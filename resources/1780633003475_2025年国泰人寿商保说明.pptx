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handoutMasterIdLst>
    <p:handoutMasterId r:id="rId12"/>
  </p:handoutMasterIdLst>
  <p:sldIdLst>
    <p:sldId id="277" r:id="rId4"/>
    <p:sldId id="257" r:id="rId5"/>
    <p:sldId id="267" r:id="rId7"/>
    <p:sldId id="278" r:id="rId8"/>
    <p:sldId id="282" r:id="rId9"/>
    <p:sldId id="262" r:id="rId10"/>
    <p:sldId id="276" r:id="rId11"/>
  </p:sldIdLst>
  <p:sldSz cx="12192000" cy="6858000"/>
  <p:notesSz cx="6797675" cy="992632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5208"/>
    <a:srgbClr val="F0F7EC"/>
    <a:srgbClr val="FFFFFF"/>
    <a:srgbClr val="006837"/>
    <a:srgbClr val="538034"/>
    <a:srgbClr val="4B234B"/>
    <a:srgbClr val="FFD300"/>
    <a:srgbClr val="BF9000"/>
    <a:srgbClr val="43682A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41D5546-C891-4CBD-9C62-AEDF196F3097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6">
              <a:alpha val="25000"/>
              <a:lumMod val="40000"/>
              <a:lumOff val="60000"/>
            </a:schemeClr>
          </a:solidFill>
        </a:fill>
      </a:tcStyle>
    </a:band2H>
    <a:band1V>
      <a:tcStyle>
        <a:tcBdr/>
        <a:fill>
          <a:solidFill>
            <a:schemeClr val="accent6">
              <a:alpha val="25000"/>
              <a:lumMod val="40000"/>
              <a:lumOff val="60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6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6"/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6"/>
          </a:solidFill>
        </a:fill>
      </a:tcStyle>
    </a:firstRow>
    <a:neCell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6"/>
              </a:solidFill>
              <a:prstDash val="solid"/>
            </a:ln>
          </a:right>
          <a:top>
            <a:ln w="9525" cmpd="sng">
              <a:solidFill>
                <a:schemeClr val="accent6"/>
              </a:solidFill>
              <a:prstDash val="solid"/>
            </a:ln>
          </a:top>
          <a:bottom>
            <a:ln w="9525" cmpd="sng">
              <a:solidFill>
                <a:schemeClr val="accent6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7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50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13FEE-5107-47FC-B31F-DF9ACE6A7E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61E6B7-A90E-4E9F-89F3-6FB44902BF2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653B9-B228-437A-9E58-D47479B6AC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4322A1-C308-42A4-AF8D-B5AB4DE8BFA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40E3-8B57-4A54-B56A-07F667C7E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5345A-EEE9-46CE-A362-4243E8E0EA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40E3-8B57-4A54-B56A-07F667C7E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5345A-EEE9-46CE-A362-4243E8E0EA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40E3-8B57-4A54-B56A-07F667C7E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5345A-EEE9-46CE-A362-4243E8E0EA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40E3-8B57-4A54-B56A-07F667C7E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5345A-EEE9-46CE-A362-4243E8E0EA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40E3-8B57-4A54-B56A-07F667C7E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5345A-EEE9-46CE-A362-4243E8E0EA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40E3-8B57-4A54-B56A-07F667C7E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5345A-EEE9-46CE-A362-4243E8E0EA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40E3-8B57-4A54-B56A-07F667C7E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5345A-EEE9-46CE-A362-4243E8E0EA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40E3-8B57-4A54-B56A-07F667C7E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5345A-EEE9-46CE-A362-4243E8E0EA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40E3-8B57-4A54-B56A-07F667C7E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5345A-EEE9-46CE-A362-4243E8E0EA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40E3-8B57-4A54-B56A-07F667C7E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5345A-EEE9-46CE-A362-4243E8E0EA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E40E3-8B57-4A54-B56A-07F667C7E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5345A-EEE9-46CE-A362-4243E8E0EA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2" Type="http://schemas.openxmlformats.org/officeDocument/2006/relationships/theme" Target="../theme/theme2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E40E3-8B57-4A54-B56A-07F667C7E78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95345A-EEE9-46CE-A362-4243E8E0EA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任意多边形: 形状 13"/>
          <p:cNvSpPr/>
          <p:nvPr userDrawn="1">
            <p:custDataLst>
              <p:tags r:id="rId7"/>
            </p:custDataLst>
          </p:nvPr>
        </p:nvSpPr>
        <p:spPr>
          <a:xfrm flipH="1">
            <a:off x="9984105" y="339090"/>
            <a:ext cx="1290320" cy="641350"/>
          </a:xfrm>
          <a:custGeom>
            <a:avLst/>
            <a:gdLst>
              <a:gd name="connsiteX0" fmla="*/ 2590610 w 2590609"/>
              <a:gd name="connsiteY0" fmla="*/ 1276350 h 1276350"/>
              <a:gd name="connsiteX1" fmla="*/ 1952244 w 2590609"/>
              <a:gd name="connsiteY1" fmla="*/ 1276350 h 1276350"/>
              <a:gd name="connsiteX2" fmla="*/ 1295305 w 2590609"/>
              <a:gd name="connsiteY2" fmla="*/ 638175 h 1276350"/>
              <a:gd name="connsiteX3" fmla="*/ 638365 w 2590609"/>
              <a:gd name="connsiteY3" fmla="*/ 1276350 h 1276350"/>
              <a:gd name="connsiteX4" fmla="*/ 0 w 2590609"/>
              <a:gd name="connsiteY4" fmla="*/ 1276350 h 1276350"/>
              <a:gd name="connsiteX5" fmla="*/ 1295305 w 2590609"/>
              <a:gd name="connsiteY5" fmla="*/ 0 h 1276350"/>
              <a:gd name="connsiteX6" fmla="*/ 2590610 w 2590609"/>
              <a:gd name="connsiteY6" fmla="*/ 1276350 h 127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90609" h="1276350">
                <a:moveTo>
                  <a:pt x="2590610" y="1276350"/>
                </a:moveTo>
                <a:lnTo>
                  <a:pt x="1952244" y="1276350"/>
                </a:lnTo>
                <a:cubicBezTo>
                  <a:pt x="1942148" y="922115"/>
                  <a:pt x="1651921" y="638175"/>
                  <a:pt x="1295305" y="638175"/>
                </a:cubicBezTo>
                <a:cubicBezTo>
                  <a:pt x="938689" y="638175"/>
                  <a:pt x="648462" y="922115"/>
                  <a:pt x="638365" y="1276350"/>
                </a:cubicBezTo>
                <a:lnTo>
                  <a:pt x="0" y="1276350"/>
                </a:lnTo>
                <a:cubicBezTo>
                  <a:pt x="10192" y="569690"/>
                  <a:pt x="586264" y="0"/>
                  <a:pt x="1295305" y="0"/>
                </a:cubicBezTo>
                <a:cubicBezTo>
                  <a:pt x="2004346" y="0"/>
                  <a:pt x="2580418" y="569690"/>
                  <a:pt x="2590610" y="127635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alpha val="8000"/>
                </a:schemeClr>
              </a:gs>
              <a:gs pos="45000">
                <a:schemeClr val="accent2">
                  <a:alpha val="13000"/>
                </a:schemeClr>
              </a:gs>
            </a:gsLst>
            <a:lin ang="54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7" name="任意多边形: 形状 14"/>
          <p:cNvSpPr/>
          <p:nvPr userDrawn="1">
            <p:custDataLst>
              <p:tags r:id="rId8"/>
            </p:custDataLst>
          </p:nvPr>
        </p:nvSpPr>
        <p:spPr>
          <a:xfrm flipH="1">
            <a:off x="9984105" y="980440"/>
            <a:ext cx="1289685" cy="659765"/>
          </a:xfrm>
          <a:custGeom>
            <a:avLst/>
            <a:gdLst>
              <a:gd name="connsiteX0" fmla="*/ 2590800 w 2590800"/>
              <a:gd name="connsiteY0" fmla="*/ 19050 h 1314450"/>
              <a:gd name="connsiteX1" fmla="*/ 1295400 w 2590800"/>
              <a:gd name="connsiteY1" fmla="*/ 1314450 h 1314450"/>
              <a:gd name="connsiteX2" fmla="*/ 0 w 2590800"/>
              <a:gd name="connsiteY2" fmla="*/ 19050 h 1314450"/>
              <a:gd name="connsiteX3" fmla="*/ 95 w 2590800"/>
              <a:gd name="connsiteY3" fmla="*/ 0 h 1314450"/>
              <a:gd name="connsiteX4" fmla="*/ 638461 w 2590800"/>
              <a:gd name="connsiteY4" fmla="*/ 0 h 1314450"/>
              <a:gd name="connsiteX5" fmla="*/ 638175 w 2590800"/>
              <a:gd name="connsiteY5" fmla="*/ 19050 h 1314450"/>
              <a:gd name="connsiteX6" fmla="*/ 1295400 w 2590800"/>
              <a:gd name="connsiteY6" fmla="*/ 676275 h 1314450"/>
              <a:gd name="connsiteX7" fmla="*/ 1952625 w 2590800"/>
              <a:gd name="connsiteY7" fmla="*/ 19050 h 1314450"/>
              <a:gd name="connsiteX8" fmla="*/ 1952339 w 2590800"/>
              <a:gd name="connsiteY8" fmla="*/ 0 h 1314450"/>
              <a:gd name="connsiteX9" fmla="*/ 2590705 w 2590800"/>
              <a:gd name="connsiteY9" fmla="*/ 0 h 1314450"/>
              <a:gd name="connsiteX10" fmla="*/ 2590800 w 2590800"/>
              <a:gd name="connsiteY10" fmla="*/ 19050 h 131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90800" h="1314450">
                <a:moveTo>
                  <a:pt x="2590800" y="19050"/>
                </a:moveTo>
                <a:cubicBezTo>
                  <a:pt x="2590800" y="734473"/>
                  <a:pt x="2010823" y="1314450"/>
                  <a:pt x="1295400" y="1314450"/>
                </a:cubicBezTo>
                <a:cubicBezTo>
                  <a:pt x="579977" y="1314450"/>
                  <a:pt x="0" y="734473"/>
                  <a:pt x="0" y="19050"/>
                </a:cubicBezTo>
                <a:cubicBezTo>
                  <a:pt x="0" y="12668"/>
                  <a:pt x="0" y="6382"/>
                  <a:pt x="95" y="0"/>
                </a:cubicBezTo>
                <a:lnTo>
                  <a:pt x="638461" y="0"/>
                </a:lnTo>
                <a:cubicBezTo>
                  <a:pt x="638270" y="6287"/>
                  <a:pt x="638175" y="12668"/>
                  <a:pt x="638175" y="19050"/>
                </a:cubicBezTo>
                <a:cubicBezTo>
                  <a:pt x="638175" y="382048"/>
                  <a:pt x="932402" y="676275"/>
                  <a:pt x="1295400" y="676275"/>
                </a:cubicBezTo>
                <a:cubicBezTo>
                  <a:pt x="1658398" y="676275"/>
                  <a:pt x="1952625" y="382048"/>
                  <a:pt x="1952625" y="19050"/>
                </a:cubicBezTo>
                <a:cubicBezTo>
                  <a:pt x="1952625" y="12668"/>
                  <a:pt x="1952530" y="6287"/>
                  <a:pt x="1952339" y="0"/>
                </a:cubicBezTo>
                <a:lnTo>
                  <a:pt x="2590705" y="0"/>
                </a:lnTo>
                <a:cubicBezTo>
                  <a:pt x="2590800" y="6382"/>
                  <a:pt x="2590800" y="12668"/>
                  <a:pt x="2590800" y="1905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2">
                  <a:alpha val="8000"/>
                </a:schemeClr>
              </a:gs>
            </a:gsLst>
            <a:lin ang="54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8" name="任意多边形: 形状 12"/>
          <p:cNvSpPr/>
          <p:nvPr userDrawn="1">
            <p:custDataLst>
              <p:tags r:id="rId9"/>
            </p:custDataLst>
          </p:nvPr>
        </p:nvSpPr>
        <p:spPr>
          <a:xfrm rot="10800000" flipH="1">
            <a:off x="10541635" y="996950"/>
            <a:ext cx="1290320" cy="641350"/>
          </a:xfrm>
          <a:custGeom>
            <a:avLst/>
            <a:gdLst>
              <a:gd name="connsiteX0" fmla="*/ 2590610 w 2590609"/>
              <a:gd name="connsiteY0" fmla="*/ 1276350 h 1276350"/>
              <a:gd name="connsiteX1" fmla="*/ 1952244 w 2590609"/>
              <a:gd name="connsiteY1" fmla="*/ 1276350 h 1276350"/>
              <a:gd name="connsiteX2" fmla="*/ 1295305 w 2590609"/>
              <a:gd name="connsiteY2" fmla="*/ 638175 h 1276350"/>
              <a:gd name="connsiteX3" fmla="*/ 638365 w 2590609"/>
              <a:gd name="connsiteY3" fmla="*/ 1276350 h 1276350"/>
              <a:gd name="connsiteX4" fmla="*/ 0 w 2590609"/>
              <a:gd name="connsiteY4" fmla="*/ 1276350 h 1276350"/>
              <a:gd name="connsiteX5" fmla="*/ 1295305 w 2590609"/>
              <a:gd name="connsiteY5" fmla="*/ 0 h 1276350"/>
              <a:gd name="connsiteX6" fmla="*/ 2590610 w 2590609"/>
              <a:gd name="connsiteY6" fmla="*/ 1276350 h 127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90609" h="1276350">
                <a:moveTo>
                  <a:pt x="2590610" y="1276350"/>
                </a:moveTo>
                <a:lnTo>
                  <a:pt x="1952244" y="1276350"/>
                </a:lnTo>
                <a:cubicBezTo>
                  <a:pt x="1942148" y="922115"/>
                  <a:pt x="1651921" y="638175"/>
                  <a:pt x="1295305" y="638175"/>
                </a:cubicBezTo>
                <a:cubicBezTo>
                  <a:pt x="938689" y="638175"/>
                  <a:pt x="648462" y="922115"/>
                  <a:pt x="638365" y="1276350"/>
                </a:cubicBezTo>
                <a:lnTo>
                  <a:pt x="0" y="1276350"/>
                </a:lnTo>
                <a:cubicBezTo>
                  <a:pt x="10192" y="569690"/>
                  <a:pt x="586264" y="0"/>
                  <a:pt x="1295305" y="0"/>
                </a:cubicBezTo>
                <a:cubicBezTo>
                  <a:pt x="2004346" y="0"/>
                  <a:pt x="2580418" y="569690"/>
                  <a:pt x="2590610" y="127635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alpha val="8000"/>
                </a:schemeClr>
              </a:gs>
              <a:gs pos="45000">
                <a:schemeClr val="accent2">
                  <a:alpha val="13000"/>
                </a:schemeClr>
              </a:gs>
            </a:gsLst>
            <a:lin ang="5400000" scaled="0"/>
          </a:gradFill>
          <a:ln w="952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9" name="任意多边形: 形状 13"/>
          <p:cNvSpPr/>
          <p:nvPr userDrawn="1">
            <p:custDataLst>
              <p:tags r:id="rId10"/>
            </p:custDataLst>
          </p:nvPr>
        </p:nvSpPr>
        <p:spPr>
          <a:xfrm rot="10800000" flipH="1">
            <a:off x="10541635" y="336550"/>
            <a:ext cx="1289685" cy="659765"/>
          </a:xfrm>
          <a:custGeom>
            <a:avLst/>
            <a:gdLst>
              <a:gd name="connsiteX0" fmla="*/ 2590800 w 2590800"/>
              <a:gd name="connsiteY0" fmla="*/ 19050 h 1314450"/>
              <a:gd name="connsiteX1" fmla="*/ 1295400 w 2590800"/>
              <a:gd name="connsiteY1" fmla="*/ 1314450 h 1314450"/>
              <a:gd name="connsiteX2" fmla="*/ 0 w 2590800"/>
              <a:gd name="connsiteY2" fmla="*/ 19050 h 1314450"/>
              <a:gd name="connsiteX3" fmla="*/ 95 w 2590800"/>
              <a:gd name="connsiteY3" fmla="*/ 0 h 1314450"/>
              <a:gd name="connsiteX4" fmla="*/ 638461 w 2590800"/>
              <a:gd name="connsiteY4" fmla="*/ 0 h 1314450"/>
              <a:gd name="connsiteX5" fmla="*/ 638175 w 2590800"/>
              <a:gd name="connsiteY5" fmla="*/ 19050 h 1314450"/>
              <a:gd name="connsiteX6" fmla="*/ 1295400 w 2590800"/>
              <a:gd name="connsiteY6" fmla="*/ 676275 h 1314450"/>
              <a:gd name="connsiteX7" fmla="*/ 1952625 w 2590800"/>
              <a:gd name="connsiteY7" fmla="*/ 19050 h 1314450"/>
              <a:gd name="connsiteX8" fmla="*/ 1952339 w 2590800"/>
              <a:gd name="connsiteY8" fmla="*/ 0 h 1314450"/>
              <a:gd name="connsiteX9" fmla="*/ 2590705 w 2590800"/>
              <a:gd name="connsiteY9" fmla="*/ 0 h 1314450"/>
              <a:gd name="connsiteX10" fmla="*/ 2590800 w 2590800"/>
              <a:gd name="connsiteY10" fmla="*/ 19050 h 131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90800" h="1314450">
                <a:moveTo>
                  <a:pt x="2590800" y="19050"/>
                </a:moveTo>
                <a:cubicBezTo>
                  <a:pt x="2590800" y="734473"/>
                  <a:pt x="2010823" y="1314450"/>
                  <a:pt x="1295400" y="1314450"/>
                </a:cubicBezTo>
                <a:cubicBezTo>
                  <a:pt x="579977" y="1314450"/>
                  <a:pt x="0" y="734473"/>
                  <a:pt x="0" y="19050"/>
                </a:cubicBezTo>
                <a:cubicBezTo>
                  <a:pt x="0" y="12668"/>
                  <a:pt x="0" y="6382"/>
                  <a:pt x="95" y="0"/>
                </a:cubicBezTo>
                <a:lnTo>
                  <a:pt x="638461" y="0"/>
                </a:lnTo>
                <a:cubicBezTo>
                  <a:pt x="638270" y="6287"/>
                  <a:pt x="638175" y="12668"/>
                  <a:pt x="638175" y="19050"/>
                </a:cubicBezTo>
                <a:cubicBezTo>
                  <a:pt x="638175" y="382048"/>
                  <a:pt x="932402" y="676275"/>
                  <a:pt x="1295400" y="676275"/>
                </a:cubicBezTo>
                <a:cubicBezTo>
                  <a:pt x="1658398" y="676275"/>
                  <a:pt x="1952625" y="382048"/>
                  <a:pt x="1952625" y="19050"/>
                </a:cubicBezTo>
                <a:cubicBezTo>
                  <a:pt x="1952625" y="12668"/>
                  <a:pt x="1952530" y="6287"/>
                  <a:pt x="1952339" y="0"/>
                </a:cubicBezTo>
                <a:lnTo>
                  <a:pt x="2590705" y="0"/>
                </a:lnTo>
                <a:cubicBezTo>
                  <a:pt x="2590800" y="6382"/>
                  <a:pt x="2590800" y="12668"/>
                  <a:pt x="2590800" y="1905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2">
                  <a:alpha val="8000"/>
                </a:schemeClr>
              </a:gs>
            </a:gsLst>
            <a:lin ang="5400000" scaled="0"/>
          </a:gradFill>
          <a:ln w="952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33.xml"/><Relationship Id="rId2" Type="http://schemas.openxmlformats.org/officeDocument/2006/relationships/image" Target="../media/image4.png"/><Relationship Id="rId19" Type="http://schemas.openxmlformats.org/officeDocument/2006/relationships/tags" Target="../tags/tag32.xml"/><Relationship Id="rId18" Type="http://schemas.openxmlformats.org/officeDocument/2006/relationships/tags" Target="../tags/tag31.xml"/><Relationship Id="rId17" Type="http://schemas.openxmlformats.org/officeDocument/2006/relationships/tags" Target="../tags/tag30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5345A-EEE9-46CE-A362-4243E8E0EA19}" type="slidenum">
              <a:rPr lang="zh-CN" altLang="en-US" smtClean="0"/>
            </a:fld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0" y="3084830"/>
            <a:ext cx="12192000" cy="3772535"/>
            <a:chOff x="0" y="3271"/>
            <a:chExt cx="19200" cy="7528"/>
          </a:xfrm>
        </p:grpSpPr>
        <p:sp>
          <p:nvSpPr>
            <p:cNvPr id="5" name="矩形 4"/>
            <p:cNvSpPr/>
            <p:nvPr/>
          </p:nvSpPr>
          <p:spPr>
            <a:xfrm>
              <a:off x="0" y="3315"/>
              <a:ext cx="19200" cy="7485"/>
            </a:xfrm>
            <a:prstGeom prst="rect">
              <a:avLst/>
            </a:prstGeom>
            <a:solidFill>
              <a:srgbClr val="0068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0" y="3271"/>
              <a:ext cx="19200" cy="324"/>
            </a:xfrm>
            <a:prstGeom prst="rect">
              <a:avLst/>
            </a:prstGeom>
            <a:solidFill>
              <a:srgbClr val="FFD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副标题 2"/>
          <p:cNvSpPr txBox="1"/>
          <p:nvPr/>
        </p:nvSpPr>
        <p:spPr>
          <a:xfrm>
            <a:off x="-635" y="1165860"/>
            <a:ext cx="12193270" cy="15703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4400" b="1" dirty="0" smtClean="0">
                <a:solidFill>
                  <a:srgbClr val="4368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爱建证券有限公司</a:t>
            </a:r>
            <a:endParaRPr lang="en-US" altLang="zh-CN" sz="4400" b="1" dirty="0" smtClean="0">
              <a:solidFill>
                <a:srgbClr val="4368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en-US" altLang="zh-CN" sz="4400" b="1" dirty="0" smtClean="0">
                <a:solidFill>
                  <a:srgbClr val="4368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4400" b="1" dirty="0" smtClean="0">
                <a:solidFill>
                  <a:srgbClr val="4368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年度员工商保方案</a:t>
            </a:r>
            <a:endParaRPr lang="en-US" altLang="zh-CN" sz="4400" b="1" dirty="0" smtClean="0">
              <a:solidFill>
                <a:srgbClr val="4368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endParaRPr lang="zh-CN" altLang="en-US" sz="4400" b="1" dirty="0">
              <a:solidFill>
                <a:srgbClr val="4368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副标题 2"/>
          <p:cNvSpPr txBox="1"/>
          <p:nvPr/>
        </p:nvSpPr>
        <p:spPr>
          <a:xfrm>
            <a:off x="2503170" y="5987415"/>
            <a:ext cx="7454265" cy="482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400" dirty="0" smtClean="0">
                <a:solidFill>
                  <a:srgbClr val="FFD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保障期间：</a:t>
            </a:r>
            <a:r>
              <a:rPr lang="en-US" altLang="zh-CN" sz="2400" dirty="0" smtClean="0">
                <a:solidFill>
                  <a:srgbClr val="FFD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2400" dirty="0" smtClean="0">
                <a:solidFill>
                  <a:srgbClr val="FFD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 dirty="0" smtClean="0">
                <a:solidFill>
                  <a:srgbClr val="FFD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 smtClean="0">
                <a:solidFill>
                  <a:srgbClr val="FFD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dirty="0" smtClean="0">
                <a:solidFill>
                  <a:srgbClr val="FFD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sz="2400" dirty="0" smtClean="0">
                <a:solidFill>
                  <a:srgbClr val="FFD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sz="2400" dirty="0" smtClean="0">
                <a:solidFill>
                  <a:srgbClr val="FFD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--2026</a:t>
            </a:r>
            <a:r>
              <a:rPr lang="zh-CN" altLang="en-US" sz="2400" dirty="0" smtClean="0">
                <a:solidFill>
                  <a:srgbClr val="FFD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 dirty="0" smtClean="0">
                <a:solidFill>
                  <a:srgbClr val="FFD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 smtClean="0">
                <a:solidFill>
                  <a:srgbClr val="FFD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dirty="0" smtClean="0">
                <a:solidFill>
                  <a:srgbClr val="FFD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2400" dirty="0" smtClean="0">
                <a:solidFill>
                  <a:srgbClr val="FFD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2400" dirty="0" smtClean="0">
              <a:solidFill>
                <a:srgbClr val="FFD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副标题 2"/>
          <p:cNvSpPr txBox="1"/>
          <p:nvPr/>
        </p:nvSpPr>
        <p:spPr>
          <a:xfrm>
            <a:off x="3080599" y="6976283"/>
            <a:ext cx="5914350" cy="393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公司LOGO-横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590" y="344805"/>
            <a:ext cx="2016760" cy="466090"/>
          </a:xfrm>
          <a:prstGeom prst="rect">
            <a:avLst/>
          </a:prstGeom>
        </p:spPr>
      </p:pic>
      <p:pic>
        <p:nvPicPr>
          <p:cNvPr id="9" name="图片 8" descr="泰不一样幸福行动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830" y="3813175"/>
            <a:ext cx="9258935" cy="21583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flipV="1">
            <a:off x="0" y="0"/>
            <a:ext cx="4194629" cy="6858000"/>
          </a:xfrm>
          <a:prstGeom prst="rect">
            <a:avLst/>
          </a:prstGeom>
          <a:solidFill>
            <a:srgbClr val="00683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194629" y="0"/>
            <a:ext cx="174172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副标题 2"/>
          <p:cNvSpPr txBox="1"/>
          <p:nvPr/>
        </p:nvSpPr>
        <p:spPr>
          <a:xfrm>
            <a:off x="5248125" y="809728"/>
            <a:ext cx="4401249" cy="10284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7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7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20"/>
          <p:cNvSpPr/>
          <p:nvPr/>
        </p:nvSpPr>
        <p:spPr>
          <a:xfrm>
            <a:off x="5248125" y="2230966"/>
            <a:ext cx="4107542" cy="66765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年度方案阐述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76"/>
          <p:cNvSpPr/>
          <p:nvPr/>
        </p:nvSpPr>
        <p:spPr>
          <a:xfrm>
            <a:off x="5248125" y="3330423"/>
            <a:ext cx="4107542" cy="66765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方案的补充说明</a:t>
            </a:r>
            <a:endParaRPr lang="zh-CN" altLang="en-US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83"/>
          <p:cNvSpPr/>
          <p:nvPr/>
        </p:nvSpPr>
        <p:spPr>
          <a:xfrm>
            <a:off x="5248125" y="4420355"/>
            <a:ext cx="4107542" cy="66765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三、对比</a:t>
            </a:r>
            <a:r>
              <a:rPr lang="en-US" altLang="zh-CN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2024</a:t>
            </a:r>
            <a:r>
              <a:rPr lang="zh-CN" altLang="en-US" sz="24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方案的变化</a:t>
            </a:r>
            <a:endParaRPr lang="zh-CN" altLang="en-US" sz="24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5345A-EEE9-46CE-A362-4243E8E0EA19}" type="slidenum">
              <a:rPr lang="zh-CN" altLang="en-US" smtClean="0"/>
            </a:fld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02640" y="1765300"/>
            <a:ext cx="2477135" cy="273431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pPr algn="ctr">
              <a:lnSpc>
                <a:spcPct val="150000"/>
              </a:lnSpc>
            </a:pPr>
            <a:r>
              <a:rPr lang="zh-CN" altLang="en-US" sz="4400">
                <a:solidFill>
                  <a:schemeClr val="bg1"/>
                </a:solidFill>
                <a:latin typeface="方正大标宋简体" panose="02000000000000000000" charset="-122"/>
                <a:ea typeface="方正大标宋简体" panose="02000000000000000000" charset="-122"/>
                <a:cs typeface="方正大标宋简体" panose="02000000000000000000" charset="-122"/>
                <a:sym typeface="+mn-ea"/>
              </a:rPr>
              <a:t>赋能前行</a:t>
            </a:r>
            <a:endParaRPr lang="zh-CN" altLang="en-US" sz="4400">
              <a:solidFill>
                <a:schemeClr val="bg1"/>
              </a:solidFill>
              <a:latin typeface="方正大标宋简体" panose="02000000000000000000" charset="-122"/>
              <a:ea typeface="方正大标宋简体" panose="02000000000000000000" charset="-122"/>
              <a:cs typeface="方正大标宋简体" panose="02000000000000000000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sz="4400">
                <a:solidFill>
                  <a:schemeClr val="bg1"/>
                </a:solidFill>
                <a:latin typeface="方正大标宋简体" panose="02000000000000000000" charset="-122"/>
                <a:ea typeface="方正大标宋简体" panose="02000000000000000000" charset="-122"/>
                <a:cs typeface="方正大标宋简体" panose="02000000000000000000" charset="-122"/>
                <a:sym typeface="+mn-ea"/>
              </a:rPr>
              <a:t>高效发展</a:t>
            </a:r>
            <a:endParaRPr lang="zh-CN" altLang="en-US" sz="4400">
              <a:latin typeface="方正大标宋简体" panose="02000000000000000000" charset="-122"/>
              <a:ea typeface="方正大标宋简体" panose="02000000000000000000" charset="-122"/>
              <a:cs typeface="方正大标宋简体" panose="02000000000000000000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116195" y="5582285"/>
            <a:ext cx="5204460" cy="1037590"/>
            <a:chOff x="8057" y="8791"/>
            <a:chExt cx="8196" cy="1634"/>
          </a:xfrm>
        </p:grpSpPr>
        <p:sp>
          <p:nvSpPr>
            <p:cNvPr id="3" name="文本框 2"/>
            <p:cNvSpPr txBox="1"/>
            <p:nvPr/>
          </p:nvSpPr>
          <p:spPr>
            <a:xfrm>
              <a:off x="8057" y="9435"/>
              <a:ext cx="640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b="1">
                  <a:solidFill>
                    <a:srgbClr val="F8520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注：如对方案、理赔等任何员工商保相关的疑问，可添加企业微信联系对接业务经理，黄辰蕊</a:t>
              </a:r>
              <a:endParaRPr lang="zh-CN" altLang="en-US" sz="1400" b="1">
                <a:solidFill>
                  <a:srgbClr val="F8520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/>
            <a:srcRect l="60351" t="74025"/>
            <a:stretch>
              <a:fillRect/>
            </a:stretch>
          </p:blipFill>
          <p:spPr>
            <a:xfrm>
              <a:off x="14457" y="8791"/>
              <a:ext cx="1797" cy="163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01"/>
          <p:cNvPicPr>
            <a:picLocks noChangeAspect="1"/>
          </p:cNvPicPr>
          <p:nvPr/>
        </p:nvPicPr>
        <p:blipFill>
          <a:blip r:embed="rId1"/>
          <a:srcRect t="23494" b="22957"/>
          <a:stretch>
            <a:fillRect/>
          </a:stretch>
        </p:blipFill>
        <p:spPr>
          <a:xfrm>
            <a:off x="10338435" y="71120"/>
            <a:ext cx="1520825" cy="589915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98425" y="661255"/>
          <a:ext cx="11922400" cy="5996940"/>
        </p:xfrm>
        <a:graphic>
          <a:graphicData uri="http://schemas.openxmlformats.org/drawingml/2006/table">
            <a:tbl>
              <a:tblPr firstRow="1" bandRow="1">
                <a:tableStyleId>{F41D5546-C891-4CBD-9C62-AEDF196F3097}</a:tableStyleId>
              </a:tblPr>
              <a:tblGrid>
                <a:gridCol w="1739265"/>
                <a:gridCol w="2731135"/>
                <a:gridCol w="1188000"/>
                <a:gridCol w="1188000"/>
                <a:gridCol w="1188000"/>
                <a:gridCol w="1188000"/>
                <a:gridCol w="1188000"/>
                <a:gridCol w="1512000"/>
              </a:tblGrid>
              <a:tr h="540000"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altLang="en-US" sz="15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保险险种</a:t>
                      </a:r>
                      <a:endParaRPr lang="zh-CN" altLang="en-US" sz="15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rgbClr val="006837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5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员工方案一</a:t>
                      </a:r>
                      <a:endParaRPr lang="zh-CN" sz="15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rgbClr val="006837"/>
                    </a:solidFill>
                  </a:tcPr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5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员工方案二（</a:t>
                      </a:r>
                      <a:r>
                        <a:rPr lang="zh-CN" sz="15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既往症</a:t>
                      </a:r>
                      <a:r>
                        <a:rPr lang="zh-CN" sz="15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sz="15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rgbClr val="006837"/>
                    </a:solidFill>
                  </a:tcPr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5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父母方案</a:t>
                      </a:r>
                      <a:endParaRPr lang="zh-CN" sz="15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rgbClr val="006837"/>
                    </a:solidFill>
                  </a:tcPr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5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配偶方案</a:t>
                      </a:r>
                      <a:endParaRPr lang="zh-CN" sz="15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rgbClr val="006837"/>
                    </a:solidFill>
                  </a:tcPr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5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子女方案</a:t>
                      </a:r>
                      <a:endParaRPr lang="zh-CN" sz="15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rgbClr val="006837"/>
                    </a:solidFill>
                  </a:tcPr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5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员工自选</a:t>
                      </a:r>
                      <a:endParaRPr lang="zh-CN" sz="15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5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卓越方案</a:t>
                      </a:r>
                      <a:endParaRPr lang="zh-CN" sz="15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rgbClr val="006837"/>
                    </a:solidFill>
                  </a:tcPr>
                </a:tc>
              </a:tr>
              <a:tr h="360000"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合盛团体意外伤害（身故、伤残）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40000">
                <a:tc gridSpan="2"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附加合盛团体意外伤害费用补偿医疗（意外医疗）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包含在补充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医疗内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包含在补充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医疗内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千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包含在补充医疗内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包含在补充医疗内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包含在补充医疗内</a:t>
                      </a:r>
                      <a:endParaRPr 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gridSpan="2"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团体住院定额给付医疗保险（住院津贴）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100 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天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100 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天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100 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天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100 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天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附加合盛团体疾病身故定期寿险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合盛团体重大疾病保险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rowSpan="3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合盛团体公共交通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意外伤害保险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客运民航班机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vMerge="1">
                  <a:tcPr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客运列车（火车、高铁）、客运轮船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40000">
                <a:tc vMerge="1">
                  <a:tcPr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客运汽车（公共汽车、电车、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出租车）、地铁、轻轨列车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合盛团体驾乘人员意外伤害保险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gridSpan="2"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附加合盛团体门诊急诊费用补偿医疗保险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千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千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gridSpan="2"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合盛团体住院费用补偿医疗保险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gridSpan="2"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附加卓越团体门诊急诊费用补偿医疗保险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gridSpan="2"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卓越团体住院医疗保险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保费（元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人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年）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1300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960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4000</a:t>
                      </a:r>
                      <a:endParaRPr lang="en-US" altLang="zh-CN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2" name="矩形: 圆角 20"/>
          <p:cNvSpPr/>
          <p:nvPr/>
        </p:nvSpPr>
        <p:spPr>
          <a:xfrm>
            <a:off x="433070" y="118745"/>
            <a:ext cx="4140200" cy="4546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年员工标准方案</a:t>
            </a:r>
            <a:endParaRPr lang="zh-CN" alt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组合 52"/>
          <p:cNvGrpSpPr/>
          <p:nvPr>
            <p:custDataLst>
              <p:tags r:id="rId1"/>
            </p:custDataLst>
          </p:nvPr>
        </p:nvGrpSpPr>
        <p:grpSpPr>
          <a:xfrm>
            <a:off x="433070" y="71120"/>
            <a:ext cx="11426190" cy="6001385"/>
            <a:chOff x="682" y="112"/>
            <a:chExt cx="17994" cy="9451"/>
          </a:xfrm>
        </p:grpSpPr>
        <p:pic>
          <p:nvPicPr>
            <p:cNvPr id="4" name="图片 3" descr="01"/>
            <p:cNvPicPr>
              <a:picLocks noChangeAspect="1"/>
            </p:cNvPicPr>
            <p:nvPr/>
          </p:nvPicPr>
          <p:blipFill>
            <a:blip r:embed="rId2"/>
            <a:srcRect t="23494" b="22957"/>
            <a:stretch>
              <a:fillRect/>
            </a:stretch>
          </p:blipFill>
          <p:spPr>
            <a:xfrm>
              <a:off x="16281" y="112"/>
              <a:ext cx="2395" cy="929"/>
            </a:xfrm>
            <a:prstGeom prst="rect">
              <a:avLst/>
            </a:prstGeom>
          </p:spPr>
        </p:pic>
        <p:sp>
          <p:nvSpPr>
            <p:cNvPr id="12" name="矩形: 圆角 20"/>
            <p:cNvSpPr/>
            <p:nvPr/>
          </p:nvSpPr>
          <p:spPr>
            <a:xfrm>
              <a:off x="682" y="727"/>
              <a:ext cx="6298" cy="71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</a:t>
              </a:r>
              <a:r>
                <a:rPr lang="en-US" altLang="zh-CN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2025</a:t>
              </a:r>
              <a:r>
                <a:rPr lang="zh-CN" altLang="en-US" sz="2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方案补充说明</a:t>
              </a:r>
              <a:endPara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Shape 1290"/>
            <p:cNvSpPr/>
            <p:nvPr>
              <p:custDataLst>
                <p:tags r:id="rId3"/>
              </p:custDataLst>
            </p:nvPr>
          </p:nvSpPr>
          <p:spPr>
            <a:xfrm>
              <a:off x="2943" y="2173"/>
              <a:ext cx="1834" cy="1424"/>
            </a:xfrm>
            <a:prstGeom prst="rect">
              <a:avLst/>
            </a:prstGeom>
            <a:solidFill>
              <a:srgbClr val="43682A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r>
                <a:rPr 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Shape 1319"/>
            <p:cNvSpPr/>
            <p:nvPr>
              <p:custDataLst>
                <p:tags r:id="rId4"/>
              </p:custDataLst>
            </p:nvPr>
          </p:nvSpPr>
          <p:spPr>
            <a:xfrm flipV="1">
              <a:off x="4773" y="3099"/>
              <a:ext cx="3157" cy="0"/>
            </a:xfrm>
            <a:prstGeom prst="line">
              <a:avLst/>
            </a:prstGeom>
            <a:ln w="12700">
              <a:solidFill>
                <a:schemeClr val="accent1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lvl="0">
                <a:defRPr sz="3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Shape 1320"/>
            <p:cNvSpPr/>
            <p:nvPr>
              <p:custDataLst>
                <p:tags r:id="rId5"/>
              </p:custDataLst>
            </p:nvPr>
          </p:nvSpPr>
          <p:spPr>
            <a:xfrm flipV="1">
              <a:off x="9839" y="3099"/>
              <a:ext cx="3157" cy="0"/>
            </a:xfrm>
            <a:prstGeom prst="line">
              <a:avLst/>
            </a:prstGeom>
            <a:ln w="12700">
              <a:solidFill>
                <a:schemeClr val="accent1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lvl="0">
                <a:defRPr sz="3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Shape 1322"/>
            <p:cNvSpPr/>
            <p:nvPr>
              <p:custDataLst>
                <p:tags r:id="rId6"/>
              </p:custDataLst>
            </p:nvPr>
          </p:nvSpPr>
          <p:spPr>
            <a:xfrm flipH="1">
              <a:off x="4838" y="7366"/>
              <a:ext cx="3730" cy="0"/>
            </a:xfrm>
            <a:prstGeom prst="line">
              <a:avLst/>
            </a:prstGeom>
            <a:ln w="12700">
              <a:solidFill>
                <a:schemeClr val="accent1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lvl="0">
                <a:defRPr sz="3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Shape 1323"/>
            <p:cNvSpPr/>
            <p:nvPr>
              <p:custDataLst>
                <p:tags r:id="rId7"/>
              </p:custDataLst>
            </p:nvPr>
          </p:nvSpPr>
          <p:spPr>
            <a:xfrm flipH="1">
              <a:off x="9839" y="7366"/>
              <a:ext cx="3157" cy="0"/>
            </a:xfrm>
            <a:prstGeom prst="line">
              <a:avLst/>
            </a:prstGeom>
            <a:ln w="12700">
              <a:solidFill>
                <a:schemeClr val="accent1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lvl="0">
                <a:defRPr sz="3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Shape 1325"/>
            <p:cNvSpPr/>
            <p:nvPr>
              <p:custDataLst>
                <p:tags r:id="rId8"/>
              </p:custDataLst>
            </p:nvPr>
          </p:nvSpPr>
          <p:spPr>
            <a:xfrm flipV="1">
              <a:off x="14699" y="3099"/>
              <a:ext cx="3045" cy="0"/>
            </a:xfrm>
            <a:prstGeom prst="line">
              <a:avLst/>
            </a:prstGeom>
            <a:ln w="12700">
              <a:solidFill>
                <a:schemeClr val="accent1"/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lvl="0">
                <a:defRPr sz="3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Shape 1326"/>
            <p:cNvSpPr/>
            <p:nvPr/>
          </p:nvSpPr>
          <p:spPr>
            <a:xfrm>
              <a:off x="17744" y="3118"/>
              <a:ext cx="0" cy="4258"/>
            </a:xfrm>
            <a:prstGeom prst="line">
              <a:avLst/>
            </a:prstGeom>
            <a:ln w="12700">
              <a:solidFill>
                <a:schemeClr val="accent1"/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lvl="0">
                <a:defRPr sz="3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Shape 1327"/>
            <p:cNvSpPr/>
            <p:nvPr>
              <p:custDataLst>
                <p:tags r:id="rId9"/>
              </p:custDataLst>
            </p:nvPr>
          </p:nvSpPr>
          <p:spPr>
            <a:xfrm flipH="1">
              <a:off x="14909" y="7366"/>
              <a:ext cx="2835" cy="0"/>
            </a:xfrm>
            <a:prstGeom prst="line">
              <a:avLst/>
            </a:prstGeom>
            <a:ln w="12700">
              <a:solidFill>
                <a:schemeClr val="accent1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lvl="0">
                <a:defRPr sz="3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Shape 1328"/>
            <p:cNvSpPr/>
            <p:nvPr/>
          </p:nvSpPr>
          <p:spPr>
            <a:xfrm flipH="1">
              <a:off x="1909" y="7366"/>
              <a:ext cx="1603" cy="0"/>
            </a:xfrm>
            <a:prstGeom prst="line">
              <a:avLst/>
            </a:prstGeom>
            <a:ln w="12700">
              <a:solidFill>
                <a:schemeClr val="accent1"/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lvl="0">
                <a:defRPr sz="3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Shape 1329"/>
            <p:cNvSpPr/>
            <p:nvPr/>
          </p:nvSpPr>
          <p:spPr>
            <a:xfrm flipV="1">
              <a:off x="1914" y="3099"/>
              <a:ext cx="0" cy="4277"/>
            </a:xfrm>
            <a:prstGeom prst="line">
              <a:avLst/>
            </a:prstGeom>
            <a:ln w="12700">
              <a:solidFill>
                <a:schemeClr val="accent1"/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lvl="0">
                <a:defRPr sz="3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Shape 1330"/>
            <p:cNvSpPr/>
            <p:nvPr/>
          </p:nvSpPr>
          <p:spPr>
            <a:xfrm>
              <a:off x="1901" y="3099"/>
              <a:ext cx="964" cy="0"/>
            </a:xfrm>
            <a:prstGeom prst="line">
              <a:avLst/>
            </a:prstGeom>
            <a:ln w="12700">
              <a:solidFill>
                <a:schemeClr val="accent1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lvl="0">
                <a:defRPr sz="3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Shape 1331"/>
            <p:cNvSpPr/>
            <p:nvPr>
              <p:custDataLst>
                <p:tags r:id="rId10"/>
              </p:custDataLst>
            </p:nvPr>
          </p:nvSpPr>
          <p:spPr>
            <a:xfrm>
              <a:off x="8009" y="2173"/>
              <a:ext cx="1834" cy="1424"/>
            </a:xfrm>
            <a:prstGeom prst="rect">
              <a:avLst/>
            </a:prstGeom>
            <a:solidFill>
              <a:srgbClr val="43682A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r>
                <a:rPr 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Shape 1336"/>
            <p:cNvSpPr/>
            <p:nvPr>
              <p:custDataLst>
                <p:tags r:id="rId11"/>
              </p:custDataLst>
            </p:nvPr>
          </p:nvSpPr>
          <p:spPr>
            <a:xfrm>
              <a:off x="13074" y="2173"/>
              <a:ext cx="1834" cy="1424"/>
            </a:xfrm>
            <a:prstGeom prst="rect">
              <a:avLst/>
            </a:prstGeom>
            <a:solidFill>
              <a:srgbClr val="43682A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r>
                <a:rPr 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Shape 1345"/>
            <p:cNvSpPr/>
            <p:nvPr>
              <p:custDataLst>
                <p:tags r:id="rId12"/>
              </p:custDataLst>
            </p:nvPr>
          </p:nvSpPr>
          <p:spPr>
            <a:xfrm>
              <a:off x="13074" y="6438"/>
              <a:ext cx="1834" cy="1424"/>
            </a:xfrm>
            <a:prstGeom prst="rect">
              <a:avLst/>
            </a:prstGeom>
            <a:solidFill>
              <a:srgbClr val="43682A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r>
                <a:rPr 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Shape 1348"/>
            <p:cNvSpPr/>
            <p:nvPr>
              <p:custDataLst>
                <p:tags r:id="rId13"/>
              </p:custDataLst>
            </p:nvPr>
          </p:nvSpPr>
          <p:spPr>
            <a:xfrm>
              <a:off x="8009" y="6438"/>
              <a:ext cx="1834" cy="1424"/>
            </a:xfrm>
            <a:prstGeom prst="rect">
              <a:avLst/>
            </a:prstGeom>
            <a:solidFill>
              <a:srgbClr val="43682A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r>
                <a:rPr 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Shape 1351"/>
            <p:cNvSpPr/>
            <p:nvPr>
              <p:custDataLst>
                <p:tags r:id="rId14"/>
              </p:custDataLst>
            </p:nvPr>
          </p:nvSpPr>
          <p:spPr>
            <a:xfrm>
              <a:off x="2943" y="6438"/>
              <a:ext cx="1834" cy="1424"/>
            </a:xfrm>
            <a:prstGeom prst="rect">
              <a:avLst/>
            </a:prstGeom>
            <a:solidFill>
              <a:srgbClr val="43682A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r>
                <a:rPr 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en-US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Text Placeholder 4"/>
            <p:cNvSpPr txBox="1"/>
            <p:nvPr>
              <p:custDataLst>
                <p:tags r:id="rId15"/>
              </p:custDataLst>
            </p:nvPr>
          </p:nvSpPr>
          <p:spPr>
            <a:xfrm>
              <a:off x="2835" y="3733"/>
              <a:ext cx="3947" cy="1734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既往症导致的医疗险正常承担，无时间限制，严重既往症导致的疾病、身故和重大疾病不承担。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Text Placeholder 4"/>
            <p:cNvSpPr txBox="1"/>
            <p:nvPr>
              <p:custDataLst>
                <p:tags r:id="rId16"/>
              </p:custDataLst>
            </p:nvPr>
          </p:nvSpPr>
          <p:spPr>
            <a:xfrm>
              <a:off x="7915" y="3965"/>
              <a:ext cx="4138" cy="501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二级及以上公立综合医院普通门诊就诊。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Text Placeholder 4"/>
            <p:cNvSpPr txBox="1"/>
            <p:nvPr>
              <p:custDataLst>
                <p:tags r:id="rId17"/>
              </p:custDataLst>
            </p:nvPr>
          </p:nvSpPr>
          <p:spPr>
            <a:xfrm>
              <a:off x="12996" y="4149"/>
              <a:ext cx="3947" cy="501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父母方案：意外医疗年度免赔额</a:t>
              </a:r>
              <a:r>
                <a: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元，医保范围内</a:t>
              </a:r>
              <a:r>
                <a: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100%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赔付。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Text Placeholder 4"/>
            <p:cNvSpPr txBox="1"/>
            <p:nvPr>
              <p:custDataLst>
                <p:tags r:id="rId18"/>
              </p:custDataLst>
            </p:nvPr>
          </p:nvSpPr>
          <p:spPr>
            <a:xfrm>
              <a:off x="2800" y="8446"/>
              <a:ext cx="3947" cy="501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配偶子女方案：单日单次单门诊免赔额</a:t>
              </a:r>
              <a:r>
                <a: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150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元，医保范围内</a:t>
              </a:r>
              <a:r>
                <a: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90%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赔付。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Text Placeholder 4"/>
            <p:cNvSpPr txBox="1"/>
            <p:nvPr>
              <p:custDataLst>
                <p:tags r:id="rId19"/>
              </p:custDataLst>
            </p:nvPr>
          </p:nvSpPr>
          <p:spPr>
            <a:xfrm>
              <a:off x="7282" y="9062"/>
              <a:ext cx="5170" cy="501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员工自选方案：开放私立医院、国际部、特需门诊，门诊单日单次限额</a:t>
              </a:r>
              <a:r>
                <a: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1000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</a:t>
              </a:r>
              <a:r>
                <a: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住院单次限额</a:t>
              </a:r>
              <a:r>
                <a: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15000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元；若在公立二级以上医院用医保身份就医，将不受限额限制，个人年度保额内</a:t>
              </a:r>
              <a:r>
                <a: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100%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给付。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Text Placeholder 4"/>
            <p:cNvSpPr txBox="1"/>
            <p:nvPr>
              <p:custDataLst>
                <p:tags r:id="rId20"/>
              </p:custDataLst>
            </p:nvPr>
          </p:nvSpPr>
          <p:spPr>
            <a:xfrm>
              <a:off x="12935" y="8686"/>
              <a:ext cx="3947" cy="501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员工自选方案：开放牙科治疗，次限额</a:t>
              </a:r>
              <a:r>
                <a: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500</a:t>
              </a:r>
              <a:r>
                <a: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元，不包含洗牙、镶牙、牙整形、牙美容等</a:t>
              </a:r>
              <a:endPara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4231" y="7395"/>
              <a:ext cx="64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5410" y="0"/>
            <a:ext cx="1819275" cy="661035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员工自选卓越方案</a:t>
            </a:r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198755" y="1676400"/>
          <a:ext cx="6082665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540"/>
                <a:gridCol w="2619375"/>
                <a:gridCol w="1682750"/>
              </a:tblGrid>
              <a:tr h="412115"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76775" algn="l"/>
                        </a:tabLst>
                      </a:pPr>
                      <a:r>
                        <a:rPr lang="zh-CN" altLang="en-US" sz="13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保险险种</a:t>
                      </a:r>
                      <a:endParaRPr lang="zh-CN" altLang="en-US" sz="13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3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保额</a:t>
                      </a:r>
                      <a:endParaRPr lang="zh-CN" sz="13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412115"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3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合盛团体意外伤害（身故、伤残）</a:t>
                      </a:r>
                      <a:endParaRPr lang="zh-CN" sz="13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3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3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3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360045">
                <a:tc gridSpan="2"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团体住院定额给付医疗保险（住院津贴）</a:t>
                      </a:r>
                      <a:endParaRPr 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100 </a:t>
                      </a: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天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359410"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附加合盛团体疾病身故定期寿险</a:t>
                      </a:r>
                      <a:endParaRPr 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360680"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合盛团体重大疾病保险</a:t>
                      </a:r>
                      <a:endParaRPr 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360045">
                <a:tc rowSpan="3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合盛团体公共交通</a:t>
                      </a:r>
                      <a:endParaRPr 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意外伤害保险</a:t>
                      </a:r>
                      <a:endParaRPr 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l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客运民航班机</a:t>
                      </a:r>
                      <a:endParaRPr 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</a:t>
                      </a: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359410">
                <a:tc vMerge="1">
                  <a:tcPr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客运列车（火车、高铁）、客运轮船</a:t>
                      </a:r>
                      <a:endParaRPr 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647065">
                <a:tc vMerge="1">
                  <a:tcPr/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客运汽车（公共汽车、电车、</a:t>
                      </a:r>
                      <a:endParaRPr 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出租车）、地铁、轻轨列车</a:t>
                      </a:r>
                      <a:endParaRPr 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359410"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合盛团体驾乘人员意外伤害保险</a:t>
                      </a:r>
                      <a:endParaRPr 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359410">
                <a:tc gridSpan="2"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附加卓越团体门诊急诊费用补偿医疗保险</a:t>
                      </a:r>
                      <a:endParaRPr 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360045">
                <a:tc gridSpan="2"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卓越团体住院医疗保险</a:t>
                      </a:r>
                      <a:endParaRPr 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  <a:tr h="359410"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保费（元</a:t>
                      </a: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人</a:t>
                      </a: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年）</a:t>
                      </a:r>
                      <a:endParaRPr lang="zh-CN" altLang="en-US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100" b="0" spc="6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4000</a:t>
                      </a:r>
                      <a:endParaRPr lang="en-US" altLang="zh-CN" sz="1100" b="0" spc="6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25400" marB="25400" anchor="ctr" anchorCtr="0"/>
                </a:tc>
              </a:tr>
            </a:tbl>
          </a:graphicData>
        </a:graphic>
      </p:graphicFrame>
      <p:sp>
        <p:nvSpPr>
          <p:cNvPr id="2" name="边界"/>
          <p:cNvSpPr/>
          <p:nvPr>
            <p:custDataLst>
              <p:tags r:id="rId4"/>
            </p:custDataLst>
          </p:nvPr>
        </p:nvSpPr>
        <p:spPr>
          <a:xfrm>
            <a:off x="6471879" y="1691640"/>
            <a:ext cx="5423185" cy="478539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任意多边形: 形状 103"/>
          <p:cNvSpPr/>
          <p:nvPr>
            <p:custDataLst>
              <p:tags r:id="rId5"/>
            </p:custDataLst>
          </p:nvPr>
        </p:nvSpPr>
        <p:spPr>
          <a:xfrm>
            <a:off x="6481180" y="1803253"/>
            <a:ext cx="572680" cy="635794"/>
          </a:xfrm>
          <a:custGeom>
            <a:avLst/>
            <a:gdLst>
              <a:gd name="connsiteX0" fmla="*/ -154 w 791051"/>
              <a:gd name="connsiteY0" fmla="*/ 275204 h 878219"/>
              <a:gd name="connsiteX1" fmla="*/ -154 w 791051"/>
              <a:gd name="connsiteY1" fmla="*/ 602388 h 878219"/>
              <a:gd name="connsiteX2" fmla="*/ 55758 w 791051"/>
              <a:gd name="connsiteY2" fmla="*/ 699257 h 878219"/>
              <a:gd name="connsiteX3" fmla="*/ 339127 w 791051"/>
              <a:gd name="connsiteY3" fmla="*/ 862896 h 878219"/>
              <a:gd name="connsiteX4" fmla="*/ 451046 w 791051"/>
              <a:gd name="connsiteY4" fmla="*/ 862896 h 878219"/>
              <a:gd name="connsiteX5" fmla="*/ 734891 w 791051"/>
              <a:gd name="connsiteY5" fmla="*/ 699257 h 878219"/>
              <a:gd name="connsiteX6" fmla="*/ 790898 w 791051"/>
              <a:gd name="connsiteY6" fmla="*/ 602388 h 878219"/>
              <a:gd name="connsiteX7" fmla="*/ 790898 w 791051"/>
              <a:gd name="connsiteY7" fmla="*/ 275204 h 878219"/>
              <a:gd name="connsiteX8" fmla="*/ 734891 w 791051"/>
              <a:gd name="connsiteY8" fmla="*/ 178239 h 878219"/>
              <a:gd name="connsiteX9" fmla="*/ 451046 w 791051"/>
              <a:gd name="connsiteY9" fmla="*/ 14695 h 878219"/>
              <a:gd name="connsiteX10" fmla="*/ 339127 w 791051"/>
              <a:gd name="connsiteY10" fmla="*/ 14695 h 878219"/>
              <a:gd name="connsiteX11" fmla="*/ 55758 w 791051"/>
              <a:gd name="connsiteY11" fmla="*/ 178239 h 878219"/>
              <a:gd name="connsiteX12" fmla="*/ -154 w 791051"/>
              <a:gd name="connsiteY12" fmla="*/ 275204 h 878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91051" h="878219">
                <a:moveTo>
                  <a:pt x="-154" y="275204"/>
                </a:moveTo>
                <a:lnTo>
                  <a:pt x="-154" y="602388"/>
                </a:lnTo>
                <a:cubicBezTo>
                  <a:pt x="-125" y="642335"/>
                  <a:pt x="21182" y="679245"/>
                  <a:pt x="55758" y="699257"/>
                </a:cubicBezTo>
                <a:lnTo>
                  <a:pt x="339127" y="862896"/>
                </a:lnTo>
                <a:cubicBezTo>
                  <a:pt x="373750" y="882908"/>
                  <a:pt x="416422" y="882908"/>
                  <a:pt x="451046" y="862896"/>
                </a:cubicBezTo>
                <a:lnTo>
                  <a:pt x="734891" y="699257"/>
                </a:lnTo>
                <a:cubicBezTo>
                  <a:pt x="769523" y="679283"/>
                  <a:pt x="790869" y="642364"/>
                  <a:pt x="790898" y="602388"/>
                </a:cubicBezTo>
                <a:lnTo>
                  <a:pt x="790898" y="275204"/>
                </a:lnTo>
                <a:cubicBezTo>
                  <a:pt x="790898" y="235199"/>
                  <a:pt x="769552" y="198223"/>
                  <a:pt x="734891" y="178239"/>
                </a:cubicBezTo>
                <a:lnTo>
                  <a:pt x="451046" y="14695"/>
                </a:lnTo>
                <a:cubicBezTo>
                  <a:pt x="416422" y="-5317"/>
                  <a:pt x="373750" y="-5317"/>
                  <a:pt x="339127" y="14695"/>
                </a:cubicBezTo>
                <a:lnTo>
                  <a:pt x="55758" y="178239"/>
                </a:lnTo>
                <a:cubicBezTo>
                  <a:pt x="21154" y="198261"/>
                  <a:pt x="-154" y="235218"/>
                  <a:pt x="-154" y="275204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algn="ctr" fontAlgn="auto">
              <a:lnSpc>
                <a:spcPct val="100000"/>
              </a:lnSpc>
              <a:buClrTx/>
              <a:buSzTx/>
              <a:buFontTx/>
            </a:pPr>
            <a:r>
              <a:rPr lang="en-US" altLang="zh-CN" b="1">
                <a:solidFill>
                  <a:srgbClr val="FFFFFF"/>
                </a:solidFill>
                <a:uFillTx/>
                <a:cs typeface="微软雅黑" panose="020B0503020204020204" pitchFamily="34" charset="-122"/>
                <a:sym typeface="+mn-ea"/>
              </a:rPr>
              <a:t>01</a:t>
            </a:r>
            <a:endParaRPr lang="en-US" altLang="zh-CN" b="1">
              <a:solidFill>
                <a:srgbClr val="FFFFFF"/>
              </a:solidFill>
              <a:uFillTx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8" name="正文"/>
          <p:cNvSpPr txBox="1"/>
          <p:nvPr>
            <p:custDataLst>
              <p:tags r:id="rId6"/>
            </p:custDataLst>
          </p:nvPr>
        </p:nvSpPr>
        <p:spPr>
          <a:xfrm>
            <a:off x="7229251" y="1711570"/>
            <a:ext cx="4665813" cy="880280"/>
          </a:xfrm>
          <a:prstGeom prst="rect">
            <a:avLst/>
          </a:prstGeom>
          <a:noFill/>
        </p:spPr>
        <p:txBody>
          <a:bodyPr wrap="square" lIns="0" tIns="0" rIns="0" bIns="71755" rtlCol="0" anchor="ctr" anchorCtr="0">
            <a:noAutofit/>
          </a:bodyPr>
          <a:lstStyle/>
          <a:p>
            <a:pPr indent="0" algn="just" fontAlgn="auto">
              <a:lnSpc>
                <a:spcPct val="14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特别开放所有私立医院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体检机构、美容院、康复护理院除外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);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6" name="任意多边形: 形状 103"/>
          <p:cNvSpPr/>
          <p:nvPr>
            <p:custDataLst>
              <p:tags r:id="rId7"/>
            </p:custDataLst>
          </p:nvPr>
        </p:nvSpPr>
        <p:spPr>
          <a:xfrm>
            <a:off x="6481180" y="3118689"/>
            <a:ext cx="572680" cy="635794"/>
          </a:xfrm>
          <a:custGeom>
            <a:avLst/>
            <a:gdLst>
              <a:gd name="connsiteX0" fmla="*/ -154 w 791051"/>
              <a:gd name="connsiteY0" fmla="*/ 275204 h 878219"/>
              <a:gd name="connsiteX1" fmla="*/ -154 w 791051"/>
              <a:gd name="connsiteY1" fmla="*/ 602388 h 878219"/>
              <a:gd name="connsiteX2" fmla="*/ 55758 w 791051"/>
              <a:gd name="connsiteY2" fmla="*/ 699257 h 878219"/>
              <a:gd name="connsiteX3" fmla="*/ 339127 w 791051"/>
              <a:gd name="connsiteY3" fmla="*/ 862896 h 878219"/>
              <a:gd name="connsiteX4" fmla="*/ 451046 w 791051"/>
              <a:gd name="connsiteY4" fmla="*/ 862896 h 878219"/>
              <a:gd name="connsiteX5" fmla="*/ 734891 w 791051"/>
              <a:gd name="connsiteY5" fmla="*/ 699257 h 878219"/>
              <a:gd name="connsiteX6" fmla="*/ 790898 w 791051"/>
              <a:gd name="connsiteY6" fmla="*/ 602388 h 878219"/>
              <a:gd name="connsiteX7" fmla="*/ 790898 w 791051"/>
              <a:gd name="connsiteY7" fmla="*/ 275204 h 878219"/>
              <a:gd name="connsiteX8" fmla="*/ 734891 w 791051"/>
              <a:gd name="connsiteY8" fmla="*/ 178239 h 878219"/>
              <a:gd name="connsiteX9" fmla="*/ 451046 w 791051"/>
              <a:gd name="connsiteY9" fmla="*/ 14695 h 878219"/>
              <a:gd name="connsiteX10" fmla="*/ 339127 w 791051"/>
              <a:gd name="connsiteY10" fmla="*/ 14695 h 878219"/>
              <a:gd name="connsiteX11" fmla="*/ 55758 w 791051"/>
              <a:gd name="connsiteY11" fmla="*/ 178239 h 878219"/>
              <a:gd name="connsiteX12" fmla="*/ -154 w 791051"/>
              <a:gd name="connsiteY12" fmla="*/ 275204 h 878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91051" h="878219">
                <a:moveTo>
                  <a:pt x="-154" y="275204"/>
                </a:moveTo>
                <a:lnTo>
                  <a:pt x="-154" y="602388"/>
                </a:lnTo>
                <a:cubicBezTo>
                  <a:pt x="-125" y="642335"/>
                  <a:pt x="21182" y="679245"/>
                  <a:pt x="55758" y="699257"/>
                </a:cubicBezTo>
                <a:lnTo>
                  <a:pt x="339127" y="862896"/>
                </a:lnTo>
                <a:cubicBezTo>
                  <a:pt x="373750" y="882908"/>
                  <a:pt x="416422" y="882908"/>
                  <a:pt x="451046" y="862896"/>
                </a:cubicBezTo>
                <a:lnTo>
                  <a:pt x="734891" y="699257"/>
                </a:lnTo>
                <a:cubicBezTo>
                  <a:pt x="769523" y="679283"/>
                  <a:pt x="790869" y="642364"/>
                  <a:pt x="790898" y="602388"/>
                </a:cubicBezTo>
                <a:lnTo>
                  <a:pt x="790898" y="275204"/>
                </a:lnTo>
                <a:cubicBezTo>
                  <a:pt x="790898" y="235199"/>
                  <a:pt x="769552" y="198223"/>
                  <a:pt x="734891" y="178239"/>
                </a:cubicBezTo>
                <a:lnTo>
                  <a:pt x="451046" y="14695"/>
                </a:lnTo>
                <a:cubicBezTo>
                  <a:pt x="416422" y="-5317"/>
                  <a:pt x="373750" y="-5317"/>
                  <a:pt x="339127" y="14695"/>
                </a:cubicBezTo>
                <a:lnTo>
                  <a:pt x="55758" y="178239"/>
                </a:lnTo>
                <a:cubicBezTo>
                  <a:pt x="21154" y="198261"/>
                  <a:pt x="-154" y="235218"/>
                  <a:pt x="-154" y="275204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algn="ctr" fontAlgn="auto">
              <a:lnSpc>
                <a:spcPct val="100000"/>
              </a:lnSpc>
              <a:buClrTx/>
              <a:buSzTx/>
              <a:buFontTx/>
            </a:pPr>
            <a:r>
              <a:rPr lang="en-US" altLang="zh-CN" b="1">
                <a:solidFill>
                  <a:srgbClr val="FFFFFF"/>
                </a:solidFill>
                <a:uFillTx/>
                <a:cs typeface="微软雅黑" panose="020B0503020204020204" pitchFamily="34" charset="-122"/>
                <a:sym typeface="+mn-ea"/>
              </a:rPr>
              <a:t>02</a:t>
            </a:r>
            <a:endParaRPr lang="en-US" altLang="zh-CN" b="1">
              <a:solidFill>
                <a:srgbClr val="FFFFFF"/>
              </a:solidFill>
              <a:uFillTx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7" name="正文"/>
          <p:cNvSpPr txBox="1"/>
          <p:nvPr>
            <p:custDataLst>
              <p:tags r:id="rId8"/>
            </p:custDataLst>
          </p:nvPr>
        </p:nvSpPr>
        <p:spPr>
          <a:xfrm>
            <a:off x="7229251" y="3006412"/>
            <a:ext cx="4665813" cy="880280"/>
          </a:xfrm>
          <a:prstGeom prst="rect">
            <a:avLst/>
          </a:prstGeom>
          <a:noFill/>
        </p:spPr>
        <p:txBody>
          <a:bodyPr wrap="square" lIns="0" tIns="0" rIns="0" bIns="71755" rtlCol="0" anchor="ctr" anchorCtr="0">
            <a:noAutofit/>
          </a:bodyPr>
          <a:lstStyle/>
          <a:p>
            <a:pPr indent="0" algn="just" fontAlgn="auto">
              <a:lnSpc>
                <a:spcPct val="14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特别开放二级及以上公立医院特需门诊、国际医疗部、外宾门诊部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1" name="任意多边形: 形状 103"/>
          <p:cNvSpPr/>
          <p:nvPr>
            <p:custDataLst>
              <p:tags r:id="rId9"/>
            </p:custDataLst>
          </p:nvPr>
        </p:nvSpPr>
        <p:spPr>
          <a:xfrm>
            <a:off x="6481180" y="4434126"/>
            <a:ext cx="572680" cy="635794"/>
          </a:xfrm>
          <a:custGeom>
            <a:avLst/>
            <a:gdLst>
              <a:gd name="connsiteX0" fmla="*/ -154 w 791051"/>
              <a:gd name="connsiteY0" fmla="*/ 275204 h 878219"/>
              <a:gd name="connsiteX1" fmla="*/ -154 w 791051"/>
              <a:gd name="connsiteY1" fmla="*/ 602388 h 878219"/>
              <a:gd name="connsiteX2" fmla="*/ 55758 w 791051"/>
              <a:gd name="connsiteY2" fmla="*/ 699257 h 878219"/>
              <a:gd name="connsiteX3" fmla="*/ 339127 w 791051"/>
              <a:gd name="connsiteY3" fmla="*/ 862896 h 878219"/>
              <a:gd name="connsiteX4" fmla="*/ 451046 w 791051"/>
              <a:gd name="connsiteY4" fmla="*/ 862896 h 878219"/>
              <a:gd name="connsiteX5" fmla="*/ 734891 w 791051"/>
              <a:gd name="connsiteY5" fmla="*/ 699257 h 878219"/>
              <a:gd name="connsiteX6" fmla="*/ 790898 w 791051"/>
              <a:gd name="connsiteY6" fmla="*/ 602388 h 878219"/>
              <a:gd name="connsiteX7" fmla="*/ 790898 w 791051"/>
              <a:gd name="connsiteY7" fmla="*/ 275204 h 878219"/>
              <a:gd name="connsiteX8" fmla="*/ 734891 w 791051"/>
              <a:gd name="connsiteY8" fmla="*/ 178239 h 878219"/>
              <a:gd name="connsiteX9" fmla="*/ 451046 w 791051"/>
              <a:gd name="connsiteY9" fmla="*/ 14695 h 878219"/>
              <a:gd name="connsiteX10" fmla="*/ 339127 w 791051"/>
              <a:gd name="connsiteY10" fmla="*/ 14695 h 878219"/>
              <a:gd name="connsiteX11" fmla="*/ 55758 w 791051"/>
              <a:gd name="connsiteY11" fmla="*/ 178239 h 878219"/>
              <a:gd name="connsiteX12" fmla="*/ -154 w 791051"/>
              <a:gd name="connsiteY12" fmla="*/ 275204 h 878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91051" h="878219">
                <a:moveTo>
                  <a:pt x="-154" y="275204"/>
                </a:moveTo>
                <a:lnTo>
                  <a:pt x="-154" y="602388"/>
                </a:lnTo>
                <a:cubicBezTo>
                  <a:pt x="-125" y="642335"/>
                  <a:pt x="21182" y="679245"/>
                  <a:pt x="55758" y="699257"/>
                </a:cubicBezTo>
                <a:lnTo>
                  <a:pt x="339127" y="862896"/>
                </a:lnTo>
                <a:cubicBezTo>
                  <a:pt x="373750" y="882908"/>
                  <a:pt x="416422" y="882908"/>
                  <a:pt x="451046" y="862896"/>
                </a:cubicBezTo>
                <a:lnTo>
                  <a:pt x="734891" y="699257"/>
                </a:lnTo>
                <a:cubicBezTo>
                  <a:pt x="769523" y="679283"/>
                  <a:pt x="790869" y="642364"/>
                  <a:pt x="790898" y="602388"/>
                </a:cubicBezTo>
                <a:lnTo>
                  <a:pt x="790898" y="275204"/>
                </a:lnTo>
                <a:cubicBezTo>
                  <a:pt x="790898" y="235199"/>
                  <a:pt x="769552" y="198223"/>
                  <a:pt x="734891" y="178239"/>
                </a:cubicBezTo>
                <a:lnTo>
                  <a:pt x="451046" y="14695"/>
                </a:lnTo>
                <a:cubicBezTo>
                  <a:pt x="416422" y="-5317"/>
                  <a:pt x="373750" y="-5317"/>
                  <a:pt x="339127" y="14695"/>
                </a:cubicBezTo>
                <a:lnTo>
                  <a:pt x="55758" y="178239"/>
                </a:lnTo>
                <a:cubicBezTo>
                  <a:pt x="21154" y="198261"/>
                  <a:pt x="-154" y="235218"/>
                  <a:pt x="-154" y="275204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algn="ctr" fontAlgn="auto">
              <a:lnSpc>
                <a:spcPct val="100000"/>
              </a:lnSpc>
              <a:buClrTx/>
              <a:buSzTx/>
              <a:buFontTx/>
            </a:pPr>
            <a:r>
              <a:rPr lang="en-US" altLang="zh-CN" b="1">
                <a:solidFill>
                  <a:srgbClr val="FFFFFF"/>
                </a:solidFill>
                <a:uFillTx/>
                <a:cs typeface="微软雅黑" panose="020B0503020204020204" pitchFamily="34" charset="-122"/>
                <a:sym typeface="+mn-ea"/>
              </a:rPr>
              <a:t>03</a:t>
            </a:r>
            <a:endParaRPr lang="en-US" altLang="zh-CN" b="1">
              <a:solidFill>
                <a:srgbClr val="FFFFFF"/>
              </a:solidFill>
              <a:uFillTx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2" name="正文"/>
          <p:cNvSpPr txBox="1"/>
          <p:nvPr>
            <p:custDataLst>
              <p:tags r:id="rId10"/>
            </p:custDataLst>
          </p:nvPr>
        </p:nvSpPr>
        <p:spPr>
          <a:xfrm>
            <a:off x="7229251" y="4301253"/>
            <a:ext cx="4665813" cy="880280"/>
          </a:xfrm>
          <a:prstGeom prst="rect">
            <a:avLst/>
          </a:prstGeom>
          <a:noFill/>
        </p:spPr>
        <p:txBody>
          <a:bodyPr wrap="square" lIns="0" tIns="0" rIns="0" bIns="71755" rtlCol="0" anchor="ctr" anchorCtr="0">
            <a:noAutofit/>
          </a:bodyPr>
          <a:lstStyle/>
          <a:p>
            <a:pPr indent="0" algn="just" fontAlgn="auto">
              <a:lnSpc>
                <a:spcPct val="14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门诊单日次限额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1000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住院单次限额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15000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如果使用医保卡就诊公立医院特需部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没有次限额限制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5" name="任意多边形: 形状 103"/>
          <p:cNvSpPr/>
          <p:nvPr>
            <p:custDataLst>
              <p:tags r:id="rId11"/>
            </p:custDataLst>
          </p:nvPr>
        </p:nvSpPr>
        <p:spPr>
          <a:xfrm>
            <a:off x="6481180" y="5749561"/>
            <a:ext cx="572680" cy="635794"/>
          </a:xfrm>
          <a:custGeom>
            <a:avLst/>
            <a:gdLst>
              <a:gd name="connsiteX0" fmla="*/ -154 w 791051"/>
              <a:gd name="connsiteY0" fmla="*/ 275204 h 878219"/>
              <a:gd name="connsiteX1" fmla="*/ -154 w 791051"/>
              <a:gd name="connsiteY1" fmla="*/ 602388 h 878219"/>
              <a:gd name="connsiteX2" fmla="*/ 55758 w 791051"/>
              <a:gd name="connsiteY2" fmla="*/ 699257 h 878219"/>
              <a:gd name="connsiteX3" fmla="*/ 339127 w 791051"/>
              <a:gd name="connsiteY3" fmla="*/ 862896 h 878219"/>
              <a:gd name="connsiteX4" fmla="*/ 451046 w 791051"/>
              <a:gd name="connsiteY4" fmla="*/ 862896 h 878219"/>
              <a:gd name="connsiteX5" fmla="*/ 734891 w 791051"/>
              <a:gd name="connsiteY5" fmla="*/ 699257 h 878219"/>
              <a:gd name="connsiteX6" fmla="*/ 790898 w 791051"/>
              <a:gd name="connsiteY6" fmla="*/ 602388 h 878219"/>
              <a:gd name="connsiteX7" fmla="*/ 790898 w 791051"/>
              <a:gd name="connsiteY7" fmla="*/ 275204 h 878219"/>
              <a:gd name="connsiteX8" fmla="*/ 734891 w 791051"/>
              <a:gd name="connsiteY8" fmla="*/ 178239 h 878219"/>
              <a:gd name="connsiteX9" fmla="*/ 451046 w 791051"/>
              <a:gd name="connsiteY9" fmla="*/ 14695 h 878219"/>
              <a:gd name="connsiteX10" fmla="*/ 339127 w 791051"/>
              <a:gd name="connsiteY10" fmla="*/ 14695 h 878219"/>
              <a:gd name="connsiteX11" fmla="*/ 55758 w 791051"/>
              <a:gd name="connsiteY11" fmla="*/ 178239 h 878219"/>
              <a:gd name="connsiteX12" fmla="*/ -154 w 791051"/>
              <a:gd name="connsiteY12" fmla="*/ 275204 h 878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91051" h="878219">
                <a:moveTo>
                  <a:pt x="-154" y="275204"/>
                </a:moveTo>
                <a:lnTo>
                  <a:pt x="-154" y="602388"/>
                </a:lnTo>
                <a:cubicBezTo>
                  <a:pt x="-125" y="642335"/>
                  <a:pt x="21182" y="679245"/>
                  <a:pt x="55758" y="699257"/>
                </a:cubicBezTo>
                <a:lnTo>
                  <a:pt x="339127" y="862896"/>
                </a:lnTo>
                <a:cubicBezTo>
                  <a:pt x="373750" y="882908"/>
                  <a:pt x="416422" y="882908"/>
                  <a:pt x="451046" y="862896"/>
                </a:cubicBezTo>
                <a:lnTo>
                  <a:pt x="734891" y="699257"/>
                </a:lnTo>
                <a:cubicBezTo>
                  <a:pt x="769523" y="679283"/>
                  <a:pt x="790869" y="642364"/>
                  <a:pt x="790898" y="602388"/>
                </a:cubicBezTo>
                <a:lnTo>
                  <a:pt x="790898" y="275204"/>
                </a:lnTo>
                <a:cubicBezTo>
                  <a:pt x="790898" y="235199"/>
                  <a:pt x="769552" y="198223"/>
                  <a:pt x="734891" y="178239"/>
                </a:cubicBezTo>
                <a:lnTo>
                  <a:pt x="451046" y="14695"/>
                </a:lnTo>
                <a:cubicBezTo>
                  <a:pt x="416422" y="-5317"/>
                  <a:pt x="373750" y="-5317"/>
                  <a:pt x="339127" y="14695"/>
                </a:cubicBezTo>
                <a:lnTo>
                  <a:pt x="55758" y="178239"/>
                </a:lnTo>
                <a:cubicBezTo>
                  <a:pt x="21154" y="198261"/>
                  <a:pt x="-154" y="235218"/>
                  <a:pt x="-154" y="275204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algn="ctr" fontAlgn="auto">
              <a:lnSpc>
                <a:spcPct val="100000"/>
              </a:lnSpc>
              <a:buClrTx/>
              <a:buSzTx/>
              <a:buFontTx/>
            </a:pPr>
            <a:r>
              <a:rPr lang="en-US" altLang="zh-CN" b="1">
                <a:solidFill>
                  <a:srgbClr val="FFFFFF"/>
                </a:solidFill>
                <a:uFillTx/>
                <a:cs typeface="微软雅黑" panose="020B0503020204020204" pitchFamily="34" charset="-122"/>
                <a:sym typeface="+mn-ea"/>
              </a:rPr>
              <a:t>04</a:t>
            </a:r>
            <a:endParaRPr lang="en-US" altLang="zh-CN" b="1">
              <a:solidFill>
                <a:srgbClr val="FFFFFF"/>
              </a:solidFill>
              <a:uFillTx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6" name="正文"/>
          <p:cNvSpPr txBox="1"/>
          <p:nvPr>
            <p:custDataLst>
              <p:tags r:id="rId12"/>
            </p:custDataLst>
          </p:nvPr>
        </p:nvSpPr>
        <p:spPr>
          <a:xfrm>
            <a:off x="7229251" y="5596094"/>
            <a:ext cx="4665813" cy="880280"/>
          </a:xfrm>
          <a:prstGeom prst="rect">
            <a:avLst/>
          </a:prstGeom>
          <a:noFill/>
        </p:spPr>
        <p:txBody>
          <a:bodyPr wrap="square" lIns="0" tIns="0" rIns="0" bIns="71755" rtlCol="0" anchor="ctr" anchorCtr="0">
            <a:noAutofit/>
          </a:bodyPr>
          <a:lstStyle/>
          <a:p>
            <a:pPr indent="0" algn="just" fontAlgn="auto">
              <a:lnSpc>
                <a:spcPct val="14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开放牙科治疗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单日次限额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500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不包含洗牙、镶牙、牙整形、牙美容等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6" name="直接连接符 6"/>
          <p:cNvCxnSpPr/>
          <p:nvPr>
            <p:custDataLst>
              <p:tags r:id="rId13"/>
            </p:custDataLst>
          </p:nvPr>
        </p:nvCxnSpPr>
        <p:spPr>
          <a:xfrm>
            <a:off x="7228587" y="4093972"/>
            <a:ext cx="4666644" cy="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  <a:alpha val="70000"/>
              </a:schemeClr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0" name="直接连接符 8"/>
          <p:cNvCxnSpPr/>
          <p:nvPr>
            <p:custDataLst>
              <p:tags r:id="rId14"/>
            </p:custDataLst>
          </p:nvPr>
        </p:nvCxnSpPr>
        <p:spPr>
          <a:xfrm>
            <a:off x="7228587" y="2799131"/>
            <a:ext cx="4666644" cy="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  <a:alpha val="70000"/>
              </a:schemeClr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12" name="直接连接符 1"/>
          <p:cNvCxnSpPr/>
          <p:nvPr>
            <p:custDataLst>
              <p:tags r:id="rId15"/>
            </p:custDataLst>
          </p:nvPr>
        </p:nvCxnSpPr>
        <p:spPr>
          <a:xfrm>
            <a:off x="7228587" y="5388813"/>
            <a:ext cx="4666644" cy="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  <a:alpha val="70000"/>
              </a:schemeClr>
            </a:soli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</p:spTree>
    <p:custDataLst>
      <p:tags r:id="rId1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0"/>
          <p:cNvSpPr/>
          <p:nvPr/>
        </p:nvSpPr>
        <p:spPr>
          <a:xfrm>
            <a:off x="433070" y="14605"/>
            <a:ext cx="5746115" cy="4730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三、对比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方案的变化</a:t>
            </a:r>
            <a:r>
              <a:rPr lang="en-US" altLang="zh-CN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</a:t>
            </a:r>
            <a:r>
              <a:rPr lang="zh-CN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员工标准方案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4" name="表格 23"/>
          <p:cNvGraphicFramePr/>
          <p:nvPr>
            <p:custDataLst>
              <p:tags r:id="rId1"/>
            </p:custDataLst>
          </p:nvPr>
        </p:nvGraphicFramePr>
        <p:xfrm>
          <a:off x="117475" y="385445"/>
          <a:ext cx="11963440" cy="6338355"/>
        </p:xfrm>
        <a:graphic>
          <a:graphicData uri="http://schemas.openxmlformats.org/drawingml/2006/table">
            <a:tbl>
              <a:tblPr firstRow="1" bandRow="1">
                <a:tableStyleId>{F41D5546-C891-4CBD-9C62-AEDF196F3097}</a:tableStyleId>
              </a:tblPr>
              <a:tblGrid>
                <a:gridCol w="1400810"/>
                <a:gridCol w="2246630"/>
                <a:gridCol w="936000"/>
                <a:gridCol w="1620000"/>
                <a:gridCol w="936000"/>
                <a:gridCol w="1620000"/>
                <a:gridCol w="936000"/>
                <a:gridCol w="2268000"/>
              </a:tblGrid>
              <a:tr h="360045">
                <a:tc rowSpan="2"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altLang="en-US" sz="15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保险险种</a:t>
                      </a:r>
                      <a:endParaRPr lang="zh-CN" altLang="en-US" sz="15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rgbClr val="006837"/>
                    </a:solidFill>
                  </a:tcPr>
                </a:tc>
                <a:tc rowSpan="2" hMerge="1">
                  <a:tcPr/>
                </a:tc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5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2024</a:t>
                      </a:r>
                      <a:r>
                        <a:rPr lang="zh-CN" altLang="en-US" sz="15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年度员工标准方案</a:t>
                      </a:r>
                      <a:endParaRPr lang="zh-CN" altLang="en-US" sz="150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 anchorCtr="0">
                    <a:solidFill>
                      <a:srgbClr val="006837"/>
                    </a:solidFill>
                  </a:tcPr>
                </a:tc>
                <a:tc hMerge="1">
                  <a:tcPr marL="25400" marR="25400" marT="6350" marB="6350" anchor="ctr" anchorCtr="0">
                    <a:solidFill>
                      <a:srgbClr val="006837"/>
                    </a:solidFill>
                  </a:tcPr>
                </a:tc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5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2025</a:t>
                      </a:r>
                      <a:r>
                        <a:rPr lang="zh-CN" altLang="en-US" sz="15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年度</a:t>
                      </a:r>
                      <a:r>
                        <a:rPr lang="zh-CN" altLang="en-US" sz="15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员工标准方案</a:t>
                      </a:r>
                      <a:endParaRPr lang="zh-CN" altLang="en-US" sz="150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 anchorCtr="0">
                    <a:solidFill>
                      <a:srgbClr val="006837"/>
                    </a:solidFill>
                  </a:tcPr>
                </a:tc>
                <a:tc hMerge="1">
                  <a:tcPr marL="25400" marR="25400" marT="6350" marB="6350" anchor="ctr" anchorCtr="0">
                    <a:solidFill>
                      <a:srgbClr val="006837"/>
                    </a:solidFill>
                  </a:tcPr>
                </a:tc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5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r>
                        <a:rPr lang="zh-CN" altLang="en-US" sz="15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年新增员工自选卓越</a:t>
                      </a:r>
                      <a:r>
                        <a:rPr lang="zh-CN" altLang="en-US" sz="150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方案</a:t>
                      </a:r>
                      <a:endParaRPr lang="zh-CN" altLang="en-US" sz="150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rgbClr val="006837"/>
                    </a:solidFill>
                  </a:tcPr>
                </a:tc>
                <a:tc hMerge="1">
                  <a:tcPr marL="25400" marR="25400" marT="6350" marB="6350" anchor="ctr" anchorCtr="0">
                    <a:solidFill>
                      <a:srgbClr val="006837"/>
                    </a:solidFill>
                  </a:tcPr>
                </a:tc>
              </a:tr>
              <a:tr h="360045">
                <a:tc vMerge="1" gridSpan="2">
                  <a:tcPr marL="25400" marR="25400" marT="6350" marB="6350" anchor="ctr" anchorCtr="0"/>
                </a:tc>
                <a:tc vMerge="1" hMerge="1">
                  <a:tcPr/>
                </a:tc>
                <a:tc>
                  <a:txBody>
                    <a:bodyPr/>
                    <a:p>
                      <a:pPr marL="0" algn="ctr" defTabSz="914400">
                        <a:lnSpc>
                          <a:spcPct val="120000"/>
                        </a:lnSpc>
                        <a:buClrTx/>
                        <a:buSzTx/>
                        <a:buFontTx/>
                        <a:tabLst>
                          <a:tab pos="4676775" algn="l"/>
                        </a:tabLst>
                      </a:pPr>
                      <a:r>
                        <a:rPr lang="zh-CN" altLang="en-US" sz="1500" b="1" spc="12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保额</a:t>
                      </a:r>
                      <a:endParaRPr lang="zh-CN" altLang="en-US" sz="1500" b="1" spc="12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rgbClr val="006837"/>
                    </a:solidFill>
                  </a:tcPr>
                </a:tc>
                <a:tc>
                  <a:txBody>
                    <a:bodyPr/>
                    <a:p>
                      <a:pPr marL="0" algn="ctr" defTabSz="914400">
                        <a:lnSpc>
                          <a:spcPct val="120000"/>
                        </a:lnSpc>
                        <a:buClrTx/>
                        <a:buSzTx/>
                        <a:buFontTx/>
                        <a:tabLst>
                          <a:tab pos="4676775" algn="l"/>
                        </a:tabLst>
                      </a:pPr>
                      <a:r>
                        <a:rPr lang="zh-CN" altLang="en-US" sz="1500" b="1" spc="12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  <a:endParaRPr lang="zh-CN" altLang="en-US" sz="1500" b="1" spc="12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rgbClr val="006837"/>
                    </a:solidFill>
                  </a:tcPr>
                </a:tc>
                <a:tc>
                  <a:txBody>
                    <a:bodyPr/>
                    <a:p>
                      <a:pPr marL="0" algn="ctr" defTabSz="914400">
                        <a:lnSpc>
                          <a:spcPct val="120000"/>
                        </a:lnSpc>
                        <a:buClrTx/>
                        <a:buSzTx/>
                        <a:buFontTx/>
                        <a:tabLst>
                          <a:tab pos="4676775" algn="l"/>
                        </a:tabLst>
                      </a:pPr>
                      <a:r>
                        <a:rPr lang="zh-CN" altLang="en-US" sz="1500" b="1" spc="12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保额</a:t>
                      </a:r>
                      <a:endParaRPr lang="zh-CN" altLang="en-US" sz="1500" b="1" spc="12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rgbClr val="006837"/>
                    </a:solidFill>
                  </a:tcPr>
                </a:tc>
                <a:tc>
                  <a:txBody>
                    <a:bodyPr/>
                    <a:p>
                      <a:pPr marL="0" algn="ctr" defTabSz="914400">
                        <a:lnSpc>
                          <a:spcPct val="120000"/>
                        </a:lnSpc>
                        <a:buClrTx/>
                        <a:buSzTx/>
                        <a:buFontTx/>
                        <a:tabLst>
                          <a:tab pos="4676775" algn="l"/>
                        </a:tabLst>
                      </a:pPr>
                      <a:r>
                        <a:rPr lang="zh-CN" altLang="en-US" sz="1500" b="1" spc="12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备注</a:t>
                      </a:r>
                      <a:endParaRPr lang="zh-CN" altLang="en-US" sz="1500" b="1" spc="12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 anchorCtr="0">
                    <a:solidFill>
                      <a:srgbClr val="006837"/>
                    </a:solidFill>
                  </a:tcPr>
                </a:tc>
                <a:tc>
                  <a:txBody>
                    <a:bodyPr/>
                    <a:p>
                      <a:pPr marL="0" algn="ctr" defTabSz="914400">
                        <a:lnSpc>
                          <a:spcPct val="120000"/>
                        </a:lnSpc>
                        <a:buClrTx/>
                        <a:buSzTx/>
                        <a:buFontTx/>
                        <a:tabLst>
                          <a:tab pos="4676775" algn="l"/>
                        </a:tabLst>
                      </a:pPr>
                      <a:r>
                        <a:rPr lang="zh-CN" altLang="en-US" sz="1500" b="1" spc="12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保额</a:t>
                      </a:r>
                      <a:endParaRPr lang="zh-CN" altLang="en-US" sz="1500" b="1" spc="12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>
                    <a:solidFill>
                      <a:srgbClr val="006837"/>
                    </a:solidFill>
                  </a:tcPr>
                </a:tc>
                <a:tc>
                  <a:txBody>
                    <a:bodyPr/>
                    <a:p>
                      <a:pPr marL="0" algn="ctr" defTabSz="914400">
                        <a:lnSpc>
                          <a:spcPct val="120000"/>
                        </a:lnSpc>
                        <a:buClrTx/>
                        <a:buSzTx/>
                        <a:buFontTx/>
                        <a:tabLst>
                          <a:tab pos="4676775" algn="l"/>
                        </a:tabLst>
                      </a:pPr>
                      <a:r>
                        <a:rPr lang="zh-CN" altLang="en-US" sz="1500" b="1" spc="12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备注</a:t>
                      </a:r>
                      <a:endParaRPr lang="zh-CN" altLang="en-US" sz="1500" b="1" spc="12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5400" marR="25400" marT="6350" marB="6350" anchor="ctr" anchorCtr="0">
                    <a:solidFill>
                      <a:srgbClr val="006837"/>
                    </a:solidFill>
                  </a:tcPr>
                </a:tc>
              </a:tr>
              <a:tr h="360000"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合盛团体意外伤害（身故、伤残）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4676775" algn="l"/>
                        </a:tabLst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</a:tr>
              <a:tr h="360045">
                <a:tc gridSpan="2"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团体住院定额给付医疗保险（住院津贴）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天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100 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天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100 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天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</a:tr>
              <a:tr h="360045"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附加合盛团体疾病身故定期寿险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4676775" algn="l"/>
                        </a:tabLst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</a:tr>
              <a:tr h="360680"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合盛团体重大疾病保险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endParaRPr lang="zh-CN" altLang="en-US" sz="12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4676775" algn="l"/>
                        </a:tabLst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</a:tr>
              <a:tr h="360045">
                <a:tc rowSpan="3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合盛团体公共交通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意外伤害保险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客运民航班机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4676775" algn="l"/>
                        </a:tabLst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</a:tr>
              <a:tr h="360680">
                <a:tc vMerge="1">
                  <a:tcPr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客运列车、客运轮船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4676775" algn="l"/>
                        </a:tabLst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</a:tr>
              <a:tr h="540000">
                <a:tc vMerge="1">
                  <a:tcPr/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客运汽车（公共汽车、电车、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出租车）、地铁、轻轨列车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endParaRPr lang="zh-CN" altLang="en-US" sz="12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4676775" algn="l"/>
                        </a:tabLst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</a:tr>
              <a:tr h="360680"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合盛团体驾乘人员意外伤害保险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endParaRPr lang="zh-CN" altLang="en-US" sz="12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4676775" algn="l"/>
                        </a:tabLst>
                      </a:pP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</a:tr>
              <a:tr h="540000">
                <a:tc gridSpan="2"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附加合盛团体门诊急诊费用补偿医疗保险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千</a:t>
                      </a:r>
                      <a:endParaRPr lang="zh-CN" altLang="en-US" sz="12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单日单次单门诊免赔</a:t>
                      </a:r>
                      <a:endParaRPr lang="zh-CN" altLang="en-US" sz="12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额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100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元，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给付</a:t>
                      </a:r>
                      <a:endParaRPr lang="zh-CN" altLang="en-US" sz="12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altLang="en-US"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无免赔额，</a:t>
                      </a:r>
                      <a:r>
                        <a:rPr lang="en-US" altLang="zh-CN"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给付</a:t>
                      </a:r>
                      <a:endParaRPr lang="zh-CN" altLang="en-US" sz="12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4676775" algn="l"/>
                        </a:tabLst>
                      </a:pP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</a:tr>
              <a:tr h="360045">
                <a:tc gridSpan="2"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合盛团体住院费用补偿医疗保险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endParaRPr lang="zh-CN" altLang="en-US" sz="12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endParaRPr lang="zh-CN" altLang="en-US" sz="12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4676775" algn="l"/>
                        </a:tabLst>
                      </a:pP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</a:tr>
              <a:tr h="648000">
                <a:tc gridSpan="2"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附加卓越团体门诊急诊费用补偿医疗保险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rowSpan="2">
                  <a:txBody>
                    <a:bodyPr/>
                    <a:p>
                      <a:pPr marL="0" indent="0" algn="l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tabLst>
                          <a:tab pos="4676775" algn="l"/>
                        </a:tabLst>
                      </a:pPr>
                      <a:r>
                        <a:rPr lang="zh-CN" altLang="en-US" sz="11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开放私立医院、特需门诊、国际部，门诊单日单次限额</a:t>
                      </a:r>
                      <a:r>
                        <a:rPr lang="en-US" altLang="zh-CN" sz="11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1000</a:t>
                      </a:r>
                      <a:r>
                        <a:rPr lang="zh-CN" altLang="en-US" sz="11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元，住院单次限额</a:t>
                      </a:r>
                      <a:r>
                        <a:rPr lang="en-US" altLang="zh-CN" sz="11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15000</a:t>
                      </a:r>
                      <a:r>
                        <a:rPr lang="zh-CN" altLang="en-US" sz="11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元；若在公立二级以上医院用医保身份就医，将不受每次限额限制，个人年度保额内</a:t>
                      </a:r>
                      <a:r>
                        <a:rPr lang="en-US" altLang="zh-CN" sz="11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1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给付。开放牙科，次限额</a:t>
                      </a:r>
                      <a:r>
                        <a:rPr lang="en-US" altLang="zh-CN" sz="11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500</a:t>
                      </a:r>
                      <a:r>
                        <a:rPr lang="zh-CN" altLang="en-US" sz="11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元。</a:t>
                      </a:r>
                      <a:endParaRPr lang="zh-CN" altLang="en-US" sz="11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</a:tr>
              <a:tr h="648000">
                <a:tc gridSpan="2"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卓越团体住院医疗保险</a:t>
                      </a:r>
                      <a:endParaRPr 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endPara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vMerge="1">
                  <a:tcPr marL="25400" marR="25400" marT="6350" marB="6350" anchor="ctr" anchorCtr="0"/>
                </a:tc>
              </a:tr>
              <a:tr h="360045"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保费（元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人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年）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/>
                </a:tc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770</a:t>
                      </a:r>
                      <a:endParaRPr lang="en-US" altLang="zh-CN" sz="12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 marL="25400" marR="25400" marT="6350" marB="6350" anchor="ctr" anchorCtr="0"/>
                </a:tc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</a:t>
                      </a:r>
                      <a:endParaRPr lang="en-US" altLang="zh-CN" sz="12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 marL="25400" marR="25400" marT="6350" marB="6350" anchor="ctr" anchorCtr="0"/>
                </a:tc>
                <a:tc gridSpan="2">
                  <a:txBody>
                    <a:bodyPr/>
                    <a:p>
                      <a:pPr marL="0" indent="0" algn="ctr" defTabSz="91440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tabLst>
                          <a:tab pos="4676775" algn="l"/>
                        </a:tabLst>
                      </a:pPr>
                      <a:r>
                        <a:rPr lang="en-US" altLang="zh-CN"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4000</a:t>
                      </a:r>
                      <a:endParaRPr lang="en-US" altLang="zh-CN" sz="12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" marR="25400" marT="6350" marB="6350" anchor="ctr" anchorCtr="0"/>
                </a:tc>
                <a:tc hMerge="1">
                  <a:tcPr marL="25400" marR="25400" marT="6350" marB="6350" anchor="ctr" anchorCtr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0"/>
            <a:ext cx="12192000" cy="462817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0" y="3851313"/>
            <a:ext cx="12192000" cy="805402"/>
          </a:xfrm>
          <a:prstGeom prst="rect">
            <a:avLst/>
          </a:prstGeom>
          <a:solidFill>
            <a:srgbClr val="FFD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10529570" y="6356350"/>
            <a:ext cx="824230" cy="365125"/>
          </a:xfrm>
        </p:spPr>
        <p:txBody>
          <a:bodyPr/>
          <a:lstStyle/>
          <a:p>
            <a:fld id="{4695345A-EEE9-46CE-A362-4243E8E0EA19}" type="slidenum">
              <a:rPr lang="zh-CN" altLang="en-US" smtClean="0"/>
            </a:fld>
            <a:endParaRPr lang="zh-CN" altLang="en-US"/>
          </a:p>
        </p:txBody>
      </p:sp>
      <p:sp>
        <p:nvSpPr>
          <p:cNvPr id="15" name="Rectangle 5"/>
          <p:cNvSpPr/>
          <p:nvPr/>
        </p:nvSpPr>
        <p:spPr>
          <a:xfrm>
            <a:off x="4120515" y="1743710"/>
            <a:ext cx="3780155" cy="1018540"/>
          </a:xfrm>
          <a:prstGeom prst="rect">
            <a:avLst/>
          </a:prstGeom>
        </p:spPr>
        <p:txBody>
          <a:bodyPr wrap="square" lIns="96418" tIns="48210" rIns="96418" bIns="48210">
            <a:spAutoFit/>
          </a:bodyPr>
          <a:lstStyle/>
          <a:p>
            <a:pPr algn="ctr" defTabSz="963930"/>
            <a:r>
              <a:rPr lang="zh-CN" altLang="en-US" sz="6000" b="1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ngsana New" panose="02020603050405020304" pitchFamily="18" charset="-34"/>
              </a:rPr>
              <a:t>谢谢观看！</a:t>
            </a:r>
            <a:endParaRPr lang="zh-CN" altLang="en-US" sz="6000" b="1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ngsana New" panose="02020603050405020304" pitchFamily="18" charset="-3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56480" y="6009640"/>
            <a:ext cx="2435225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2000">
                <a:solidFill>
                  <a:srgbClr val="0068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高效发展</a:t>
            </a:r>
            <a:r>
              <a:rPr lang="en-US" altLang="zh-CN" sz="2000">
                <a:solidFill>
                  <a:srgbClr val="0068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2000">
                <a:solidFill>
                  <a:srgbClr val="0068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赋能前行</a:t>
            </a:r>
            <a:endParaRPr lang="zh-CN" altLang="en-US" sz="2000">
              <a:solidFill>
                <a:srgbClr val="0068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 descr="公司logo-白色横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795" y="-677545"/>
            <a:ext cx="2761615" cy="2761615"/>
          </a:xfrm>
          <a:prstGeom prst="rect">
            <a:avLst/>
          </a:prstGeom>
        </p:spPr>
      </p:pic>
      <p:pic>
        <p:nvPicPr>
          <p:cNvPr id="6" name="图片 5" descr="泰不一样幸福行动-绿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995" y="4806950"/>
            <a:ext cx="5922010" cy="1380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20238579"/>
</p:tagLst>
</file>

<file path=ppt/tags/tag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50"/>
  <p:tag name="KSO_WM_TEMPLATE_CATEGORY" val="custom"/>
  <p:tag name="KSO_WM_TEMPLATE_INDEX" val="20238579"/>
</p:tagLst>
</file>

<file path=ppt/tags/tag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579"/>
  <p:tag name="KSO_WM_TEMPLATE_CATEGORY" val="custom"/>
  <p:tag name="KSO_WM_TEMPLATE_MASTER_TYPE" val="0"/>
</p:tagLst>
</file>

<file path=ppt/tags/tag14.xml><?xml version="1.0" encoding="utf-8"?>
<p:tagLst xmlns:p="http://schemas.openxmlformats.org/presentationml/2006/main">
  <p:tag name="TABLE_ENDDRAG_ORIGIN_RECT" val="881*513"/>
  <p:tag name="TABLE_ENDDRAG_RECT" val="34*61*881*513"/>
</p:tagLst>
</file>

<file path=ppt/tags/tag15.xml><?xml version="1.0" encoding="utf-8"?>
<p:tagLst xmlns:p="http://schemas.openxmlformats.org/presentationml/2006/main">
  <p:tag name="KSO_WM_DIAGRAM_VIRTUALLY_FRAME" val="{&quot;height&quot;:472.55,&quot;left&quot;:34.1,&quot;top&quot;:5.6,&quot;width&quot;:899.7}"/>
</p:tagLst>
</file>

<file path=ppt/tags/tag16.xml><?xml version="1.0" encoding="utf-8"?>
<p:tagLst xmlns:p="http://schemas.openxmlformats.org/presentationml/2006/main">
  <p:tag name="KSO_WM_DIAGRAM_VIRTUALLY_FRAME" val="{&quot;height&quot;:472.55,&quot;left&quot;:34.1,&quot;top&quot;:5.6,&quot;width&quot;:899.7}"/>
</p:tagLst>
</file>

<file path=ppt/tags/tag17.xml><?xml version="1.0" encoding="utf-8"?>
<p:tagLst xmlns:p="http://schemas.openxmlformats.org/presentationml/2006/main">
  <p:tag name="KSO_WM_DIAGRAM_VIRTUALLY_FRAME" val="{&quot;height&quot;:472.55,&quot;left&quot;:34.1,&quot;top&quot;:5.6,&quot;width&quot;:899.7}"/>
</p:tagLst>
</file>

<file path=ppt/tags/tag18.xml><?xml version="1.0" encoding="utf-8"?>
<p:tagLst xmlns:p="http://schemas.openxmlformats.org/presentationml/2006/main">
  <p:tag name="KSO_WM_DIAGRAM_VIRTUALLY_FRAME" val="{&quot;height&quot;:472.55,&quot;left&quot;:34.1,&quot;top&quot;:5.6,&quot;width&quot;:899.7}"/>
</p:tagLst>
</file>

<file path=ppt/tags/tag19.xml><?xml version="1.0" encoding="utf-8"?>
<p:tagLst xmlns:p="http://schemas.openxmlformats.org/presentationml/2006/main">
  <p:tag name="KSO_WM_DIAGRAM_VIRTUALLY_FRAME" val="{&quot;height&quot;:472.55,&quot;left&quot;:34.1,&quot;top&quot;:5.6,&quot;width&quot;:899.7}"/>
</p:tagLst>
</file>

<file path=ppt/tags/tag20.xml><?xml version="1.0" encoding="utf-8"?>
<p:tagLst xmlns:p="http://schemas.openxmlformats.org/presentationml/2006/main">
  <p:tag name="KSO_WM_DIAGRAM_VIRTUALLY_FRAME" val="{&quot;height&quot;:472.55,&quot;left&quot;:34.1,&quot;top&quot;:5.6,&quot;width&quot;:899.7}"/>
</p:tagLst>
</file>

<file path=ppt/tags/tag21.xml><?xml version="1.0" encoding="utf-8"?>
<p:tagLst xmlns:p="http://schemas.openxmlformats.org/presentationml/2006/main">
  <p:tag name="KSO_WM_DIAGRAM_VIRTUALLY_FRAME" val="{&quot;height&quot;:472.55,&quot;left&quot;:34.1,&quot;top&quot;:5.6,&quot;width&quot;:899.7}"/>
</p:tagLst>
</file>

<file path=ppt/tags/tag22.xml><?xml version="1.0" encoding="utf-8"?>
<p:tagLst xmlns:p="http://schemas.openxmlformats.org/presentationml/2006/main">
  <p:tag name="KSO_WM_DIAGRAM_VIRTUALLY_FRAME" val="{&quot;height&quot;:472.55,&quot;left&quot;:34.1,&quot;top&quot;:5.6,&quot;width&quot;:899.7}"/>
</p:tagLst>
</file>

<file path=ppt/tags/tag23.xml><?xml version="1.0" encoding="utf-8"?>
<p:tagLst xmlns:p="http://schemas.openxmlformats.org/presentationml/2006/main">
  <p:tag name="KSO_WM_DIAGRAM_VIRTUALLY_FRAME" val="{&quot;height&quot;:472.55,&quot;left&quot;:34.1,&quot;top&quot;:5.6,&quot;width&quot;:899.7}"/>
</p:tagLst>
</file>

<file path=ppt/tags/tag24.xml><?xml version="1.0" encoding="utf-8"?>
<p:tagLst xmlns:p="http://schemas.openxmlformats.org/presentationml/2006/main">
  <p:tag name="KSO_WM_DIAGRAM_VIRTUALLY_FRAME" val="{&quot;height&quot;:472.55,&quot;left&quot;:34.1,&quot;top&quot;:5.6,&quot;width&quot;:899.7}"/>
</p:tagLst>
</file>

<file path=ppt/tags/tag25.xml><?xml version="1.0" encoding="utf-8"?>
<p:tagLst xmlns:p="http://schemas.openxmlformats.org/presentationml/2006/main">
  <p:tag name="KSO_WM_DIAGRAM_VIRTUALLY_FRAME" val="{&quot;height&quot;:472.55,&quot;left&quot;:34.1,&quot;top&quot;:5.6,&quot;width&quot;:899.7}"/>
</p:tagLst>
</file>

<file path=ppt/tags/tag26.xml><?xml version="1.0" encoding="utf-8"?>
<p:tagLst xmlns:p="http://schemas.openxmlformats.org/presentationml/2006/main">
  <p:tag name="KSO_WM_DIAGRAM_VIRTUALLY_FRAME" val="{&quot;height&quot;:472.55,&quot;left&quot;:34.1,&quot;top&quot;:5.6,&quot;width&quot;:899.7}"/>
</p:tagLst>
</file>

<file path=ppt/tags/tag27.xml><?xml version="1.0" encoding="utf-8"?>
<p:tagLst xmlns:p="http://schemas.openxmlformats.org/presentationml/2006/main">
  <p:tag name="KSO_WM_DIAGRAM_VIRTUALLY_FRAME" val="{&quot;height&quot;:472.55,&quot;left&quot;:34.1,&quot;top&quot;:5.6,&quot;width&quot;:899.7}"/>
</p:tagLst>
</file>

<file path=ppt/tags/tag28.xml><?xml version="1.0" encoding="utf-8"?>
<p:tagLst xmlns:p="http://schemas.openxmlformats.org/presentationml/2006/main">
  <p:tag name="KSO_WM_DIAGRAM_VIRTUALLY_FRAME" val="{&quot;height&quot;:472.55,&quot;left&quot;:34.1,&quot;top&quot;:5.6,&quot;width&quot;:899.7}"/>
</p:tagLst>
</file>

<file path=ppt/tags/tag29.xml><?xml version="1.0" encoding="utf-8"?>
<p:tagLst xmlns:p="http://schemas.openxmlformats.org/presentationml/2006/main">
  <p:tag name="KSO_WM_DIAGRAM_VIRTUALLY_FRAME" val="{&quot;height&quot;:472.55,&quot;left&quot;:34.1,&quot;top&quot;:5.6,&quot;width&quot;:899.7}"/>
</p:tagLst>
</file>

<file path=ppt/tags/tag30.xml><?xml version="1.0" encoding="utf-8"?>
<p:tagLst xmlns:p="http://schemas.openxmlformats.org/presentationml/2006/main">
  <p:tag name="KSO_WM_DIAGRAM_VIRTUALLY_FRAME" val="{&quot;height&quot;:472.55,&quot;left&quot;:34.1,&quot;top&quot;:5.6,&quot;width&quot;:899.7}"/>
</p:tagLst>
</file>

<file path=ppt/tags/tag31.xml><?xml version="1.0" encoding="utf-8"?>
<p:tagLst xmlns:p="http://schemas.openxmlformats.org/presentationml/2006/main">
  <p:tag name="KSO_WM_DIAGRAM_VIRTUALLY_FRAME" val="{&quot;height&quot;:472.55,&quot;left&quot;:34.1,&quot;top&quot;:5.6,&quot;width&quot;:899.7}"/>
</p:tagLst>
</file>

<file path=ppt/tags/tag32.xml><?xml version="1.0" encoding="utf-8"?>
<p:tagLst xmlns:p="http://schemas.openxmlformats.org/presentationml/2006/main">
  <p:tag name="KSO_WM_DIAGRAM_VIRTUALLY_FRAME" val="{&quot;height&quot;:472.55,&quot;left&quot;:34.1,&quot;top&quot;:5.6,&quot;width&quot;:899.7}"/>
</p:tagLst>
</file>

<file path=ppt/tags/tag33.xml><?xml version="1.0" encoding="utf-8"?>
<p:tagLst xmlns:p="http://schemas.openxmlformats.org/presentationml/2006/main">
  <p:tag name="KSO_WM_DIAGRAM_VIRTUALLY_FRAME" val="{&quot;height&quot;:472.55,&quot;left&quot;:34.1,&quot;top&quot;:5.6,&quot;width&quot;:899.7}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1174"/>
  <p:tag name="KSO_WM_UNIT_ID" val="custom20231174_1*a*1"/>
  <p:tag name="KSO_WM_UNIT_TEXT_TYPE" val="1"/>
  <p:tag name="KSO_WM_UNIT_PRESET_TEXT" val="单击此处添加标题"/>
  <p:tag name="KSO_WM_UNIT_TEXT_FILL_FORE_SCHEMECOLOR_INDEX" val="5"/>
  <p:tag name="KSO_WM_UNIT_TEXT_FILL_TYPE" val="1"/>
  <p:tag name="KSO_WM_UNIT_USESOURCEFORMAT_APPLY" val="1"/>
</p:tagLst>
</file>

<file path=ppt/tags/tag35.xml><?xml version="1.0" encoding="utf-8"?>
<p:tagLst xmlns:p="http://schemas.openxmlformats.org/presentationml/2006/main">
  <p:tag name="TABLE_ENDDRAG_ORIGIN_RECT" val="478*370"/>
  <p:tag name="TABLE_ENDDRAG_RECT" val="11*132*478*370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519_3*l_i*1_4"/>
  <p:tag name="KSO_WM_TEMPLATE_CATEGORY" val="diagram"/>
  <p:tag name="KSO_WM_TEMPLATE_INDEX" val="20235519"/>
  <p:tag name="KSO_WM_UNIT_LAYERLEVEL" val="1_1"/>
  <p:tag name="KSO_WM_TAG_VERSION" val="3.0"/>
  <p:tag name="KSO_WM_UNIT_TYPE" val="l_i"/>
  <p:tag name="KSO_WM_UNIT_INDEX" val="1_4"/>
  <p:tag name="KSO_WM_DIAGRAM_MAX_ITEMCNT" val="5"/>
  <p:tag name="KSO_WM_DIAGRAM_MIN_ITEMCNT" val="2"/>
  <p:tag name="KSO_WM_DIAGRAM_VIRTUALLY_FRAME" val="{&quot;height&quot;:378.4000787401575,&quot;left&quot;:509.2676312856938,&quot;top&quot;:133.2,&quot;width&quot;:427.36473742861256}"/>
  <p:tag name="KSO_WM_DIAGRAM_COLOR_MATCH_VALUE" val="{&quot;shape&quot;:{&quot;fill&quot;:{&quot;solid&quot;:{&quot;brightness&quot;:0,&quot;colorType&quot;:2,&quot;rgb&quot;:&quot;#ffffff&quot;,&quot;transparency&quot;: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UNIT_TEXT_FILL_FORE_SCHEMECOLOR_INDEX" val="2"/>
  <p:tag name="KSO_WM_UNIT_TEXT_FILL_TYPE" val="1"/>
  <p:tag name="KSO_WM_UNIT_USESOURCEFORMAT_APPLY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519_3*l_h_i*1_1_1"/>
  <p:tag name="KSO_WM_TEMPLATE_CATEGORY" val="diagram"/>
  <p:tag name="KSO_WM_TEMPLATE_INDEX" val="20235519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1_1"/>
  <p:tag name="KSO_WM_DIAGRAM_GROUP_CODE" val="l1-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5"/>
  <p:tag name="KSO_WM_DIAGRAM_MIN_ITEMCNT" val="2"/>
  <p:tag name="KSO_WM_DIAGRAM_VIRTUALLY_FRAME" val="{&quot;height&quot;:378.4000787401575,&quot;left&quot;:509.2676312856938,&quot;top&quot;:133.2,&quot;width&quot;:427.3647374286125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519_3*l_h_f*1_1_1"/>
  <p:tag name="KSO_WM_TEMPLATE_CATEGORY" val="diagram"/>
  <p:tag name="KSO_WM_TEMPLATE_INDEX" val="20235519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TYPE" val="l_h_f"/>
  <p:tag name="KSO_WM_UNIT_INDEX" val="1_1_1"/>
  <p:tag name="KSO_WM_DIAGRAM_GROUP_CODE" val="l1-1"/>
  <p:tag name="KSO_WM_UNIT_VALUE" val="50"/>
  <p:tag name="KSO_WM_DIAGRAM_VERSION" val="3"/>
  <p:tag name="KSO_WM_DIAGRAM_COLOR_TRICK" val="1"/>
  <p:tag name="KSO_WM_DIAGRAM_COLOR_TEXT_CAN_REMOVE" val="n"/>
  <p:tag name="KSO_WM_UNIT_PRESET_TEXT" val="单击添加正文，文字是您思想的提炼，为了演示发布的良好效果。根据需要可酌情增减文字，以便观者准确理解您所传达的信息。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78.4000787401575,&quot;left&quot;:509.2676312856938,&quot;top&quot;:133.2,&quot;width&quot;:427.364737428612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519_3*l_h_i*1_2_1"/>
  <p:tag name="KSO_WM_TEMPLATE_CATEGORY" val="diagram"/>
  <p:tag name="KSO_WM_TEMPLATE_INDEX" val="20235519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2_1"/>
  <p:tag name="KSO_WM_DIAGRAM_GROUP_CODE" val="l1-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5"/>
  <p:tag name="KSO_WM_DIAGRAM_MIN_ITEMCNT" val="2"/>
  <p:tag name="KSO_WM_DIAGRAM_VIRTUALLY_FRAME" val="{&quot;height&quot;:378.4000787401575,&quot;left&quot;:509.2676312856938,&quot;top&quot;:133.2,&quot;width&quot;:427.3647374286125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519_3*l_h_f*1_2_1"/>
  <p:tag name="KSO_WM_TEMPLATE_CATEGORY" val="diagram"/>
  <p:tag name="KSO_WM_TEMPLATE_INDEX" val="20235519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TYPE" val="l_h_f"/>
  <p:tag name="KSO_WM_UNIT_INDEX" val="1_2_1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正文，文字是您思想的提炼，为了最终演示发布的良好效果。根据需要可酌情增减文字，以便观者准确理解您所传达的信息。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78.4000787401575,&quot;left&quot;:509.2676312856938,&quot;top&quot;:133.2,&quot;width&quot;:427.364737428612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519_3*l_h_i*1_3_1"/>
  <p:tag name="KSO_WM_TEMPLATE_CATEGORY" val="diagram"/>
  <p:tag name="KSO_WM_TEMPLATE_INDEX" val="20235519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3_1"/>
  <p:tag name="KSO_WM_DIAGRAM_GROUP_CODE" val="l1-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5"/>
  <p:tag name="KSO_WM_DIAGRAM_MIN_ITEMCNT" val="2"/>
  <p:tag name="KSO_WM_DIAGRAM_VIRTUALLY_FRAME" val="{&quot;height&quot;:378.4000787401575,&quot;left&quot;:509.2676312856938,&quot;top&quot;:133.2,&quot;width&quot;:427.3647374286125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519_3*l_h_f*1_3_1"/>
  <p:tag name="KSO_WM_TEMPLATE_CATEGORY" val="diagram"/>
  <p:tag name="KSO_WM_TEMPLATE_INDEX" val="20235519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TYPE" val="l_h_f"/>
  <p:tag name="KSO_WM_UNIT_INDEX" val="1_3_1"/>
  <p:tag name="KSO_WM_DIAGRAM_GROUP_CODE" val="l1-1"/>
  <p:tag name="KSO_WM_UNIT_VALUE" val="50"/>
  <p:tag name="KSO_WM_DIAGRAM_VERSION" val="3"/>
  <p:tag name="KSO_WM_DIAGRAM_COLOR_TRICK" val="1"/>
  <p:tag name="KSO_WM_DIAGRAM_COLOR_TEXT_CAN_REMOVE" val="n"/>
  <p:tag name="KSO_WM_UNIT_PRESET_TEXT" val="单击添加正文，文字是您思想的提炼，为了演示发布的良好效果。根据需要可酌情增减文字，以便观者准确理解您所传达的信息。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78.4000787401575,&quot;left&quot;:509.2676312856938,&quot;top&quot;:133.2,&quot;width&quot;:427.364737428612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519_3*l_h_i*1_4_1"/>
  <p:tag name="KSO_WM_TEMPLATE_CATEGORY" val="diagram"/>
  <p:tag name="KSO_WM_TEMPLATE_INDEX" val="20235519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4_1"/>
  <p:tag name="KSO_WM_DIAGRAM_GROUP_CODE" val="l1-1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5"/>
  <p:tag name="KSO_WM_DIAGRAM_MIN_ITEMCNT" val="2"/>
  <p:tag name="KSO_WM_DIAGRAM_VIRTUALLY_FRAME" val="{&quot;height&quot;:378.4000787401575,&quot;left&quot;:509.2676312856938,&quot;top&quot;:133.2,&quot;width&quot;:427.3647374286125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519_3*l_h_f*1_4_1"/>
  <p:tag name="KSO_WM_TEMPLATE_CATEGORY" val="diagram"/>
  <p:tag name="KSO_WM_TEMPLATE_INDEX" val="20235519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TYPE" val="l_h_f"/>
  <p:tag name="KSO_WM_UNIT_INDEX" val="1_4_1"/>
  <p:tag name="KSO_WM_DIAGRAM_GROUP_CODE" val="l1-1"/>
  <p:tag name="KSO_WM_DIAGRAM_VERSION" val="3"/>
  <p:tag name="KSO_WM_DIAGRAM_COLOR_TRICK" val="1"/>
  <p:tag name="KSO_WM_DIAGRAM_COLOR_TEXT_CAN_REMOVE" val="n"/>
  <p:tag name="KSO_WM_UNIT_PRESET_TEXT" val="单击添加正文，文字是您思想的提炼，为了最终演示发布的良好效果。根据需要可酌情增减文字，以便观者准确理解您所传达的信息。"/>
  <p:tag name="KSO_WM_UNIT_TEXT_FILL_FORE_SCHEMECOLOR_INDEX" val="1"/>
  <p:tag name="KSO_WM_UNIT_TEXT_FILL_TYPE" val="1"/>
  <p:tag name="KSO_WM_UNIT_TEXT_TYPE" val="1"/>
  <p:tag name="KSO_WM_DIAGRAM_MAX_ITEMCNT" val="5"/>
  <p:tag name="KSO_WM_DIAGRAM_MIN_ITEMCNT" val="2"/>
  <p:tag name="KSO_WM_DIAGRAM_VIRTUALLY_FRAME" val="{&quot;height&quot;:378.4000787401575,&quot;left&quot;:509.2676312856938,&quot;top&quot;:133.2,&quot;width&quot;:427.364737428612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519_3*l_i*1_1"/>
  <p:tag name="KSO_WM_TEMPLATE_CATEGORY" val="diagram"/>
  <p:tag name="KSO_WM_TEMPLATE_INDEX" val="20235519"/>
  <p:tag name="KSO_WM_UNIT_LAYERLEVEL" val="1_1"/>
  <p:tag name="KSO_WM_TAG_VERSION" val="3.0"/>
  <p:tag name="KSO_WM_BEAUTIFY_FLAG" val="#wm#"/>
  <p:tag name="KSO_WM_UNIT_TYPE" val="l_i"/>
  <p:tag name="KSO_WM_UNIT_INDEX" val="1_1"/>
  <p:tag name="KSO_WM_DIAGRAM_GROUP_CODE" val="l1-1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5"/>
  <p:tag name="KSO_WM_DIAGRAM_MIN_ITEMCNT" val="2"/>
  <p:tag name="KSO_WM_DIAGRAM_VIRTUALLY_FRAME" val="{&quot;height&quot;:378.4000787401575,&quot;left&quot;:509.2676312856938,&quot;top&quot;:133.2,&quot;width&quot;:427.3647374286125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30000001192092896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519_3*l_i*1_2"/>
  <p:tag name="KSO_WM_TEMPLATE_CATEGORY" val="diagram"/>
  <p:tag name="KSO_WM_TEMPLATE_INDEX" val="20235519"/>
  <p:tag name="KSO_WM_UNIT_LAYERLEVEL" val="1_1"/>
  <p:tag name="KSO_WM_TAG_VERSION" val="3.0"/>
  <p:tag name="KSO_WM_BEAUTIFY_FLAG" val="#wm#"/>
  <p:tag name="KSO_WM_UNIT_TYPE" val="l_i"/>
  <p:tag name="KSO_WM_UNIT_INDEX" val="1_2"/>
  <p:tag name="KSO_WM_DIAGRAM_GROUP_CODE" val="l1-1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5"/>
  <p:tag name="KSO_WM_DIAGRAM_MIN_ITEMCNT" val="2"/>
  <p:tag name="KSO_WM_DIAGRAM_VIRTUALLY_FRAME" val="{&quot;height&quot;:378.4000787401575,&quot;left&quot;:509.2676312856938,&quot;top&quot;:133.2,&quot;width&quot;:427.3647374286125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30000001192092896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519_3*l_i*1_3"/>
  <p:tag name="KSO_WM_TEMPLATE_CATEGORY" val="diagram"/>
  <p:tag name="KSO_WM_TEMPLATE_INDEX" val="20235519"/>
  <p:tag name="KSO_WM_UNIT_LAYERLEVEL" val="1_1"/>
  <p:tag name="KSO_WM_TAG_VERSION" val="3.0"/>
  <p:tag name="KSO_WM_BEAUTIFY_FLAG" val="#wm#"/>
  <p:tag name="KSO_WM_UNIT_TYPE" val="l_i"/>
  <p:tag name="KSO_WM_UNIT_INDEX" val="1_3"/>
  <p:tag name="KSO_WM_DIAGRAM_GROUP_CODE" val="l1-1"/>
  <p:tag name="KSO_WM_DIAGRAM_VERSION" val="3"/>
  <p:tag name="KSO_WM_DIAGRAM_COLOR_TRICK" val="1"/>
  <p:tag name="KSO_WM_DIAGRAM_COLOR_TEXT_CAN_REMOVE" val="n"/>
  <p:tag name="KSO_WM_UNIT_LINE_FORE_SCHEMECOLOR_INDEX" val="5"/>
  <p:tag name="KSO_WM_DIAGRAM_MAX_ITEMCNT" val="5"/>
  <p:tag name="KSO_WM_DIAGRAM_MIN_ITEMCNT" val="2"/>
  <p:tag name="KSO_WM_DIAGRAM_VIRTUALLY_FRAME" val="{&quot;height&quot;:378.4000787401575,&quot;left&quot;:509.2676312856938,&quot;top&quot;:133.2,&quot;width&quot;:427.36473742861256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.30000001192092896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1"/>
</p:tagLst>
</file>

<file path=ppt/tags/tag48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408.2*330.8"/>
  <p:tag name="KSO_WM_SLIDE_POSITION" val="504*161.25"/>
  <p:tag name="KSO_WM_SLIDE_LAYOUT" val="a_β_l"/>
  <p:tag name="KSO_WM_SLIDE_LAYOUT_CNT" val="1_1_1"/>
  <p:tag name="KSO_WM_SPECIAL_SOURCE" val="bdnull"/>
  <p:tag name="KSO_WM_DIAGRAM_GROUP_CODE" val="l1-1"/>
  <p:tag name="KSO_WM_SLIDE_DIAGTYPE" val="l"/>
  <p:tag name="KSO_WM_TEMPLATE_INDEX" val="20231174"/>
  <p:tag name="KSO_WM_TEMPLATE_SUBCATEGORY" val="0"/>
  <p:tag name="KSO_WM_SLIDE_INDEX" val="1"/>
  <p:tag name="KSO_WM_TAG_VERSION" val="3.0"/>
  <p:tag name="KSO_WM_SLIDE_ID" val="custom20231174_1"/>
  <p:tag name="KSO_WM_SLIDE_ITEM_CNT" val="3"/>
</p:tagLst>
</file>

<file path=ppt/tags/tag49.xml><?xml version="1.0" encoding="utf-8"?>
<p:tagLst xmlns:p="http://schemas.openxmlformats.org/presentationml/2006/main">
  <p:tag name="TABLE_ENDDRAG_ORIGIN_RECT" val="927*564"/>
  <p:tag name="TABLE_ENDDRAG_RECT" val="15*47*927*564"/>
</p:tagLst>
</file>

<file path=ppt/tags/tag50.xml><?xml version="1.0" encoding="utf-8"?>
<p:tagLst xmlns:p="http://schemas.openxmlformats.org/presentationml/2006/main">
  <p:tag name="commondata" val="eyJoZGlkIjoiMGMyNmMzNmY3MTU1MWE3OTZmMjhhMTBkMjZkZjRhODAifQ=="/>
  <p:tag name="resource_record_key" val="{&quot;29&quot;:[50053052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39">
      <a:dk1>
        <a:srgbClr val="000000"/>
      </a:dk1>
      <a:lt1>
        <a:srgbClr val="FFFFFF"/>
      </a:lt1>
      <a:dk2>
        <a:srgbClr val="5F0909"/>
      </a:dk2>
      <a:lt2>
        <a:srgbClr val="FEF4F4"/>
      </a:lt2>
      <a:accent1>
        <a:srgbClr val="F84748"/>
      </a:accent1>
      <a:accent2>
        <a:srgbClr val="FF9F43"/>
      </a:accent2>
      <a:accent3>
        <a:srgbClr val="1DD1A1"/>
      </a:accent3>
      <a:accent4>
        <a:srgbClr val="0ABDE3"/>
      </a:accent4>
      <a:accent5>
        <a:srgbClr val="2897FC"/>
      </a:accent5>
      <a:accent6>
        <a:srgbClr val="854EE8"/>
      </a:accent6>
      <a:hlink>
        <a:srgbClr val="304FFE"/>
      </a:hlink>
      <a:folHlink>
        <a:srgbClr val="492067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2464</Words>
  <Application>WPS 演示</Application>
  <PresentationFormat>宽屏</PresentationFormat>
  <Paragraphs>581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方正大标宋简体</vt:lpstr>
      <vt:lpstr>Helvetica Light</vt:lpstr>
      <vt:lpstr>Angsana New</vt:lpstr>
      <vt:lpstr>Microsoft Sans Serif</vt:lpstr>
      <vt:lpstr>Calibri</vt:lpstr>
      <vt:lpstr>Arial Unicode MS</vt:lpstr>
      <vt:lpstr>Calibri Light</vt:lpstr>
      <vt:lpstr>Office 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员工自选卓越方案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0100019396范莎莎</dc:creator>
  <cp:lastModifiedBy>黄宾</cp:lastModifiedBy>
  <cp:revision>88</cp:revision>
  <cp:lastPrinted>2021-05-14T01:02:00Z</cp:lastPrinted>
  <dcterms:created xsi:type="dcterms:W3CDTF">2021-05-12T08:26:00Z</dcterms:created>
  <dcterms:modified xsi:type="dcterms:W3CDTF">2025-11-14T09:14:59Z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79C1AA16C230469E98605DA1AB65887A_13</vt:lpwstr>
  </property>
  <property fmtid="{D5CDD505-2E9C-101B-9397-08002B2CF9AE}" pid="3" name="KSOProductBuildVer">
    <vt:lpwstr>2052-12.1.0.21915</vt:lpwstr>
  </property>
</Properties>
</file>